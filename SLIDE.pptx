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ject background" id="{F63AF564-3ED3-9CCF-099D-8C5032EF891A}">
          <p14:sldIdLst>
            <p14:sldId id="256"/>
            <p14:sldId id="257"/>
            <p14:sldId id="258"/>
            <p14:sldId id="259"/>
          </p14:sldIdLst>
        </p14:section>
        <p14:section name="Feature engineering and daily loss" id="{AC277E1D-A73D-3BEA-BECB-FAD32C086D12}">
          <p14:sldIdLst>
            <p14:sldId id="260"/>
          </p14:sldIdLst>
        </p14:section>
        <p14:section name="Default-1" id="{21BC7447-8642-9D53-8976-71630896FB4F}">
          <p14:sldIdLst>
            <p14:sldId id="261"/>
            <p14:sldId id="262"/>
          </p14:sldIdLst>
        </p14:section>
        <p14:section name="Loss distribution diagnostics" id="{4ADDCF3D-17FB-644D-99B7-E063B1AD883C}">
          <p14:sldIdLst>
            <p14:sldId id="263"/>
          </p14:sldIdLst>
        </p14:section>
        <p14:section name="Default-2" id="{B44B6D8D-9165-5CD1-4F93-9F7707A93C0D}">
          <p14:sldIdLst>
            <p14:sldId id="264"/>
            <p14:sldId id="265"/>
          </p14:sldIdLst>
        </p14:section>
        <p14:section name="VaR and Expected Shortfall" id="{E2D5F8F8-6B8E-9E7E-C166-A82E4CCDFAE3}">
          <p14:sldIdLst>
            <p14:sldId id="266"/>
          </p14:sldIdLst>
        </p14:section>
        <p14:section name="Default-3" id="{F777A894-2489-4069-F92A-9334FB593491}">
          <p14:sldIdLst>
            <p14:sldId id="267"/>
            <p14:sldId id="268"/>
            <p14:sldId id="269"/>
            <p14:sldId id="270"/>
          </p14:sldIdLst>
        </p14:section>
        <p14:section name="Stress testing" id="{9860BACB-6A70-3259-DA21-0CEBD79F3831}">
          <p14:sldIdLst>
            <p14:sldId id="271"/>
          </p14:sldIdLst>
        </p14:section>
        <p14:section name="Default-4" id="{E3302C8D-F1AC-B354-8FED-3A5D745BD28B}">
          <p14:sldIdLst>
            <p14:sldId id="272"/>
          </p14:sldIdLst>
        </p14:section>
        <p14:section name="Concentration, discount and demand risk" id="{1D8E87D4-2E89-ADDB-5293-3864AC00E027}">
          <p14:sldIdLst>
            <p14:sldId id="273"/>
          </p14:sldIdLst>
        </p14:section>
        <p14:section name="Default-5" id="{1A64FB5A-83BE-F5BE-4F1E-CD529E507864}">
          <p14:sldIdLst>
            <p14:sldId id="274"/>
            <p14:sldId id="275"/>
            <p14:sldId id="276"/>
            <p14:sldId id="277"/>
          </p14:sldIdLst>
        </p14:section>
        <p14:section name="Entropy-weighted store risk score" id="{CAA54751-A5F8-6C47-A1D8-AA6F1F686401}">
          <p14:sldIdLst>
            <p14:sldId id="278"/>
          </p14:sldIdLst>
        </p14:section>
        <p14:section name="Default-6" id="{4E1DB754-4541-5AB2-0AA4-F28C44980A3A}">
          <p14:sldIdLst>
            <p14:sldId id="279"/>
          </p14:sldIdLst>
        </p14:section>
        <p14:section name="Closing" id="{AD6D9629-8DE4-2A4F-8272-FAE7C999BEDB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8" d="100"/>
          <a:sy n="48" d="100"/>
        </p:scale>
        <p:origin x="53" y="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839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/>
                </a:solidFill>
              </a:rPr>
              <a:t>Financial Risk Management of Food &amp; Beverage and Retail Sales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0"/>
            <a:ext cx="478505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01168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49808" y="2103120"/>
            <a:ext cx="6400800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49808" y="2148840"/>
            <a:ext cx="73152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7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5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10" Type="http://schemas.openxmlformats.org/officeDocument/2006/relationships/image" Target="../media/image38.png"/><Relationship Id="rId4" Type="http://schemas.openxmlformats.org/officeDocument/2006/relationships/image" Target="../media/image36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9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31.png"/><Relationship Id="rId10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6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9.png"/><Relationship Id="rId4" Type="http://schemas.openxmlformats.org/officeDocument/2006/relationships/image" Target="../media/image49.png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52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68.png"/><Relationship Id="rId5" Type="http://schemas.openxmlformats.org/officeDocument/2006/relationships/image" Target="../media/image64.png"/><Relationship Id="rId10" Type="http://schemas.openxmlformats.org/officeDocument/2006/relationships/image" Target="../media/image67.png"/><Relationship Id="rId4" Type="http://schemas.openxmlformats.org/officeDocument/2006/relationships/image" Target="../media/image63.png"/><Relationship Id="rId9" Type="http://schemas.openxmlformats.org/officeDocument/2006/relationships/image" Target="../media/image49.png"/><Relationship Id="rId14" Type="http://schemas.openxmlformats.org/officeDocument/2006/relationships/image" Target="../media/image5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70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11" Type="http://schemas.openxmlformats.org/officeDocument/2006/relationships/image" Target="../media/image76.png"/><Relationship Id="rId5" Type="http://schemas.openxmlformats.org/officeDocument/2006/relationships/image" Target="../media/image72.png"/><Relationship Id="rId10" Type="http://schemas.openxmlformats.org/officeDocument/2006/relationships/image" Target="../media/image75.png"/><Relationship Id="rId4" Type="http://schemas.openxmlformats.org/officeDocument/2006/relationships/image" Target="../media/image71.png"/><Relationship Id="rId9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7.png"/><Relationship Id="rId7" Type="http://schemas.openxmlformats.org/officeDocument/2006/relationships/image" Target="../media/image80.png"/><Relationship Id="rId12" Type="http://schemas.openxmlformats.org/officeDocument/2006/relationships/image" Target="../media/image8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75.png"/><Relationship Id="rId5" Type="http://schemas.openxmlformats.org/officeDocument/2006/relationships/image" Target="../media/image79.png"/><Relationship Id="rId10" Type="http://schemas.openxmlformats.org/officeDocument/2006/relationships/image" Target="../media/image74.png"/><Relationship Id="rId4" Type="http://schemas.openxmlformats.org/officeDocument/2006/relationships/image" Target="../media/image78.png"/><Relationship Id="rId9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96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7.png"/><Relationship Id="rId10" Type="http://schemas.openxmlformats.org/officeDocument/2006/relationships/image" Target="../media/image98.png"/><Relationship Id="rId4" Type="http://schemas.openxmlformats.org/officeDocument/2006/relationships/image" Target="../media/image97.png"/><Relationship Id="rId9" Type="http://schemas.openxmlformats.org/officeDocument/2006/relationships/image" Target="../media/image9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07.png"/><Relationship Id="rId3" Type="http://schemas.openxmlformats.org/officeDocument/2006/relationships/image" Target="../media/image99.png"/><Relationship Id="rId7" Type="http://schemas.openxmlformats.org/officeDocument/2006/relationships/image" Target="../media/image31.png"/><Relationship Id="rId12" Type="http://schemas.openxmlformats.org/officeDocument/2006/relationships/image" Target="../media/image10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11" Type="http://schemas.openxmlformats.org/officeDocument/2006/relationships/image" Target="../media/image105.png"/><Relationship Id="rId5" Type="http://schemas.openxmlformats.org/officeDocument/2006/relationships/image" Target="../media/image101.png"/><Relationship Id="rId10" Type="http://schemas.openxmlformats.org/officeDocument/2006/relationships/image" Target="../media/image104.png"/><Relationship Id="rId4" Type="http://schemas.openxmlformats.org/officeDocument/2006/relationships/image" Target="../media/image100.png"/><Relationship Id="rId9" Type="http://schemas.openxmlformats.org/officeDocument/2006/relationships/image" Target="../media/image103.png"/><Relationship Id="rId14" Type="http://schemas.openxmlformats.org/officeDocument/2006/relationships/image" Target="../media/image10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3" Type="http://schemas.openxmlformats.org/officeDocument/2006/relationships/image" Target="../media/image109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8.png"/><Relationship Id="rId5" Type="http://schemas.openxmlformats.org/officeDocument/2006/relationships/image" Target="../media/image31.png"/><Relationship Id="rId4" Type="http://schemas.openxmlformats.org/officeDocument/2006/relationships/image" Target="../media/image1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13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24.png"/><Relationship Id="rId10" Type="http://schemas.openxmlformats.org/officeDocument/2006/relationships/image" Target="../media/image118.png"/><Relationship Id="rId4" Type="http://schemas.openxmlformats.org/officeDocument/2006/relationships/image" Target="../media/image114.png"/><Relationship Id="rId9" Type="http://schemas.openxmlformats.org/officeDocument/2006/relationships/image" Target="../media/image11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119.png"/><Relationship Id="rId7" Type="http://schemas.openxmlformats.org/officeDocument/2006/relationships/image" Target="../media/image31.png"/><Relationship Id="rId12" Type="http://schemas.openxmlformats.org/officeDocument/2006/relationships/image" Target="../media/image1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11" Type="http://schemas.openxmlformats.org/officeDocument/2006/relationships/image" Target="../media/image11.png"/><Relationship Id="rId5" Type="http://schemas.openxmlformats.org/officeDocument/2006/relationships/image" Target="../media/image115.png"/><Relationship Id="rId10" Type="http://schemas.openxmlformats.org/officeDocument/2006/relationships/image" Target="../media/image53.png"/><Relationship Id="rId4" Type="http://schemas.openxmlformats.org/officeDocument/2006/relationships/image" Target="../media/image120.png"/><Relationship Id="rId9" Type="http://schemas.openxmlformats.org/officeDocument/2006/relationships/image" Target="../media/image1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5.pn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134.png"/><Relationship Id="rId3" Type="http://schemas.openxmlformats.org/officeDocument/2006/relationships/image" Target="../media/image127.png"/><Relationship Id="rId7" Type="http://schemas.openxmlformats.org/officeDocument/2006/relationships/image" Target="../media/image34.png"/><Relationship Id="rId12" Type="http://schemas.openxmlformats.org/officeDocument/2006/relationships/image" Target="../media/image13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11" Type="http://schemas.openxmlformats.org/officeDocument/2006/relationships/image" Target="../media/image132.png"/><Relationship Id="rId5" Type="http://schemas.openxmlformats.org/officeDocument/2006/relationships/image" Target="../media/image129.png"/><Relationship Id="rId15" Type="http://schemas.openxmlformats.org/officeDocument/2006/relationships/image" Target="../media/image136.png"/><Relationship Id="rId10" Type="http://schemas.openxmlformats.org/officeDocument/2006/relationships/image" Target="../media/image131.png"/><Relationship Id="rId4" Type="http://schemas.openxmlformats.org/officeDocument/2006/relationships/image" Target="../media/image128.png"/><Relationship Id="rId9" Type="http://schemas.openxmlformats.org/officeDocument/2006/relationships/image" Target="../media/image31.png"/><Relationship Id="rId14" Type="http://schemas.openxmlformats.org/officeDocument/2006/relationships/image" Target="../media/image13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image" Target="../media/image146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4.png"/><Relationship Id="rId5" Type="http://schemas.openxmlformats.org/officeDocument/2006/relationships/image" Target="../media/image139.png"/><Relationship Id="rId10" Type="http://schemas.openxmlformats.org/officeDocument/2006/relationships/image" Target="../media/image143.png"/><Relationship Id="rId4" Type="http://schemas.openxmlformats.org/officeDocument/2006/relationships/image" Target="../media/image138.png"/><Relationship Id="rId9" Type="http://schemas.openxmlformats.org/officeDocument/2006/relationships/image" Target="../media/image142.png"/><Relationship Id="rId14" Type="http://schemas.openxmlformats.org/officeDocument/2006/relationships/image" Target="../media/image14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teal"/>
          <p:cNvSpPr/>
          <p:nvPr/>
        </p:nvSpPr>
        <p:spPr>
          <a:xfrm>
            <a:off x="8503920" y="-2377440"/>
            <a:ext cx="5669280" cy="5669280"/>
          </a:xfrm>
          <a:prstGeom prst="ellipse">
            <a:avLst/>
          </a:prstGeom>
          <a:solidFill>
            <a:srgbClr val="E3EFEE"/>
          </a:solidFill>
          <a:ln w="12700">
            <a:solidFill>
              <a:srgbClr val="E3EFEE"/>
            </a:solidFill>
            <a:prstDash val="solid"/>
          </a:ln>
        </p:spPr>
      </p:sp>
      <p:sp>
        <p:nvSpPr>
          <p:cNvPr id="3" name="Decor circle peach"/>
          <p:cNvSpPr/>
          <p:nvPr/>
        </p:nvSpPr>
        <p:spPr>
          <a:xfrm>
            <a:off x="10332720" y="4297680"/>
            <a:ext cx="3840480" cy="3840480"/>
          </a:xfrm>
          <a:prstGeom prst="ellipse">
            <a:avLst/>
          </a:prstGeom>
          <a:solidFill>
            <a:srgbClr val="FCEEE5"/>
          </a:solidFill>
          <a:ln w="12700">
            <a:solidFill>
              <a:srgbClr val="FCEEE5"/>
            </a:solidFill>
            <a:prstDash val="solid"/>
          </a:ln>
        </p:spPr>
      </p:sp>
      <p:sp>
        <p:nvSpPr>
          <p:cNvPr id="4" name="Chart disc"/>
          <p:cNvSpPr/>
          <p:nvPr/>
        </p:nvSpPr>
        <p:spPr>
          <a:xfrm>
            <a:off x="7680960" y="1005840"/>
            <a:ext cx="4114800" cy="4114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pic>
        <p:nvPicPr>
          <p:cNvPr id="5" name="ITC logo" descr="Institute of Technology of Cambodia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48640"/>
            <a:ext cx="1280160" cy="1280160"/>
          </a:xfrm>
          <a:prstGeom prst="rect">
            <a:avLst/>
          </a:prstGeom>
        </p:spPr>
      </p:pic>
      <p:sp>
        <p:nvSpPr>
          <p:cNvPr id="6" name="Event label"/>
          <p:cNvSpPr txBox="1"/>
          <p:nvPr/>
        </p:nvSpPr>
        <p:spPr>
          <a:xfrm>
            <a:off x="2286000" y="1005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410C"/>
                </a:solidFill>
              </a:rPr>
              <a:t>INTERNSHIP YEAR 4  |  DEFENSE DAY, 23RD-24TH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749808" y="2103120"/>
            <a:ext cx="6400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Financial Risk Management of Food &amp; Beverage and Retail Sales</a:t>
            </a:r>
            <a:endParaRPr lang="en-US" sz="3600" dirty="0"/>
          </a:p>
        </p:txBody>
      </p:sp>
      <p:sp>
        <p:nvSpPr>
          <p:cNvPr id="8" name="Subtitle"/>
          <p:cNvSpPr txBox="1"/>
          <p:nvPr/>
        </p:nvSpPr>
        <p:spPr>
          <a:xfrm>
            <a:off x="749808" y="4023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5B6B80"/>
                </a:solidFill>
              </a:rPr>
              <a:t>A Quantitative Risk Model Using Value at Risk, Stress Testing and Store-Level Risk Scoring</a:t>
            </a:r>
            <a:endParaRPr lang="en-US" sz="1800" dirty="0"/>
          </a:p>
        </p:txBody>
      </p:sp>
      <p:pic>
        <p:nvPicPr>
          <p:cNvPr id="9" name="VaR and ES illustration" descr="Illustration of a loss distribution with the VaR threshold and Expected Shortfall in the tai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1920240"/>
            <a:ext cx="3657600" cy="2542032"/>
          </a:xfrm>
          <a:prstGeom prst="rect">
            <a:avLst/>
          </a:prstGeom>
        </p:spPr>
      </p:pic>
      <p:sp>
        <p:nvSpPr>
          <p:cNvPr id="10" name="Info card 1"/>
          <p:cNvSpPr/>
          <p:nvPr/>
        </p:nvSpPr>
        <p:spPr>
          <a:xfrm>
            <a:off x="749808" y="534924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1" name="Info label 1"/>
          <p:cNvSpPr txBox="1"/>
          <p:nvPr/>
        </p:nvSpPr>
        <p:spPr>
          <a:xfrm>
            <a:off x="950976" y="5468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410C"/>
                </a:solidFill>
              </a:rPr>
              <a:t>PRESENTED BY</a:t>
            </a:r>
            <a:endParaRPr lang="en-US" sz="1100" dirty="0"/>
          </a:p>
        </p:txBody>
      </p:sp>
      <p:sp>
        <p:nvSpPr>
          <p:cNvPr id="12" name="Info value 1"/>
          <p:cNvSpPr txBox="1"/>
          <p:nvPr/>
        </p:nvSpPr>
        <p:spPr>
          <a:xfrm>
            <a:off x="950976" y="5760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Sor Raksmey</a:t>
            </a:r>
            <a:endParaRPr lang="en-US" sz="1600" dirty="0"/>
          </a:p>
        </p:txBody>
      </p:sp>
      <p:sp>
        <p:nvSpPr>
          <p:cNvPr id="13" name="Info card 2"/>
          <p:cNvSpPr/>
          <p:nvPr/>
        </p:nvSpPr>
        <p:spPr>
          <a:xfrm>
            <a:off x="3145536" y="534924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4" name="Info label 2"/>
          <p:cNvSpPr txBox="1"/>
          <p:nvPr/>
        </p:nvSpPr>
        <p:spPr>
          <a:xfrm>
            <a:off x="3346704" y="5468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410C"/>
                </a:solidFill>
              </a:rPr>
              <a:t>SUPERVISOR</a:t>
            </a:r>
            <a:endParaRPr lang="en-US" sz="1100" dirty="0"/>
          </a:p>
        </p:txBody>
      </p:sp>
      <p:sp>
        <p:nvSpPr>
          <p:cNvPr id="15" name="Info value 2"/>
          <p:cNvSpPr txBox="1"/>
          <p:nvPr/>
        </p:nvSpPr>
        <p:spPr>
          <a:xfrm>
            <a:off x="3346704" y="5760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Mr. Som Seab</a:t>
            </a:r>
            <a:endParaRPr lang="en-US" sz="1600" dirty="0"/>
          </a:p>
        </p:txBody>
      </p:sp>
      <p:sp>
        <p:nvSpPr>
          <p:cNvPr id="16" name="Info card 3"/>
          <p:cNvSpPr/>
          <p:nvPr/>
        </p:nvSpPr>
        <p:spPr>
          <a:xfrm>
            <a:off x="5541264" y="534924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17" name="Info label 3"/>
          <p:cNvSpPr txBox="1"/>
          <p:nvPr/>
        </p:nvSpPr>
        <p:spPr>
          <a:xfrm>
            <a:off x="5742432" y="5468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410C"/>
                </a:solidFill>
              </a:rPr>
              <a:t>ADVISOR</a:t>
            </a:r>
            <a:endParaRPr lang="en-US" sz="1100" dirty="0"/>
          </a:p>
        </p:txBody>
      </p:sp>
      <p:sp>
        <p:nvSpPr>
          <p:cNvPr id="18" name="Info value 3"/>
          <p:cNvSpPr txBox="1"/>
          <p:nvPr/>
        </p:nvSpPr>
        <p:spPr>
          <a:xfrm>
            <a:off x="5742432" y="5760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Mr. Toem Touch</a:t>
            </a:r>
            <a:endParaRPr lang="en-US" sz="1600" dirty="0"/>
          </a:p>
        </p:txBody>
      </p:sp>
      <p:sp>
        <p:nvSpPr>
          <p:cNvPr id="19" name="Info card 4"/>
          <p:cNvSpPr/>
          <p:nvPr/>
        </p:nvSpPr>
        <p:spPr>
          <a:xfrm>
            <a:off x="7936992" y="5349240"/>
            <a:ext cx="22402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5DFEC"/>
            </a:solidFill>
            <a:prstDash val="solid"/>
          </a:ln>
        </p:spPr>
      </p:sp>
      <p:sp>
        <p:nvSpPr>
          <p:cNvPr id="20" name="Info label 4"/>
          <p:cNvSpPr txBox="1"/>
          <p:nvPr/>
        </p:nvSpPr>
        <p:spPr>
          <a:xfrm>
            <a:off x="8138160" y="546811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2410C"/>
                </a:solidFill>
              </a:rPr>
              <a:t>ACADEMIC YEAR</a:t>
            </a:r>
            <a:endParaRPr lang="en-US" sz="1100" dirty="0"/>
          </a:p>
        </p:txBody>
      </p:sp>
      <p:sp>
        <p:nvSpPr>
          <p:cNvPr id="21" name="Info value 4"/>
          <p:cNvSpPr txBox="1"/>
          <p:nvPr/>
        </p:nvSpPr>
        <p:spPr>
          <a:xfrm>
            <a:off x="8138160" y="576072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2026-2027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Host organization: Newrest Cambodia</a:t>
            </a:r>
            <a:endParaRPr lang="en-US" sz="3200" dirty="0"/>
          </a:p>
        </p:txBody>
      </p:sp>
      <p:sp>
        <p:nvSpPr>
          <p:cNvPr id="5" name="Company card"/>
          <p:cNvSpPr/>
          <p:nvPr/>
        </p:nvSpPr>
        <p:spPr>
          <a:xfrm>
            <a:off x="548640" y="1280160"/>
            <a:ext cx="4754880" cy="4937760"/>
          </a:xfrm>
          <a:prstGeom prst="roundRect">
            <a:avLst>
              <a:gd name="adj" fmla="val 230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Company label"/>
          <p:cNvSpPr txBox="1"/>
          <p:nvPr/>
        </p:nvSpPr>
        <p:spPr>
          <a:xfrm>
            <a:off x="868680" y="15544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THE COMPANY</a:t>
            </a:r>
            <a:endParaRPr lang="en-US" sz="1200" dirty="0"/>
          </a:p>
        </p:txBody>
      </p:sp>
      <p:sp>
        <p:nvSpPr>
          <p:cNvPr id="7" name="Company name"/>
          <p:cNvSpPr txBox="1"/>
          <p:nvPr/>
        </p:nvSpPr>
        <p:spPr>
          <a:xfrm>
            <a:off x="868680" y="187452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Newrest Cambodia</a:t>
            </a:r>
            <a:endParaRPr lang="en-US" sz="3000" dirty="0"/>
          </a:p>
        </p:txBody>
      </p:sp>
      <p:sp>
        <p:nvSpPr>
          <p:cNvPr id="8" name="Company description"/>
          <p:cNvSpPr txBox="1"/>
          <p:nvPr/>
        </p:nvSpPr>
        <p:spPr>
          <a:xfrm>
            <a:off x="868680" y="26517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The study analyses point-of-sale records from its restaurants, cafés and retail shops, covering food, beverages and retail products.</a:t>
            </a:r>
            <a:endParaRPr lang="en-US" sz="1600" dirty="0"/>
          </a:p>
        </p:txBody>
      </p:sp>
      <p:sp>
        <p:nvSpPr>
          <p:cNvPr id="9" name="Outlets number"/>
          <p:cNvSpPr txBox="1"/>
          <p:nvPr/>
        </p:nvSpPr>
        <p:spPr>
          <a:xfrm>
            <a:off x="868680" y="43434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5400" dirty="0"/>
          </a:p>
        </p:txBody>
      </p:sp>
      <p:sp>
        <p:nvSpPr>
          <p:cNvPr id="10" name="Outlets label"/>
          <p:cNvSpPr txBox="1"/>
          <p:nvPr/>
        </p:nvSpPr>
        <p:spPr>
          <a:xfrm>
            <a:off x="868680" y="5212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outlets analysed</a:t>
            </a:r>
            <a:endParaRPr lang="en-US" sz="1400" dirty="0"/>
          </a:p>
        </p:txBody>
      </p:sp>
      <p:sp>
        <p:nvSpPr>
          <p:cNvPr id="11" name="Categories number"/>
          <p:cNvSpPr txBox="1"/>
          <p:nvPr/>
        </p:nvSpPr>
        <p:spPr>
          <a:xfrm>
            <a:off x="3108960" y="43434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12" name="Categories label"/>
          <p:cNvSpPr txBox="1"/>
          <p:nvPr/>
        </p:nvSpPr>
        <p:spPr>
          <a:xfrm>
            <a:off x="3108960" y="52120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product categories</a:t>
            </a:r>
            <a:endParaRPr lang="en-US" sz="1400" dirty="0"/>
          </a:p>
        </p:txBody>
      </p:sp>
      <p:sp>
        <p:nvSpPr>
          <p:cNvPr id="13" name="Categories heading"/>
          <p:cNvSpPr txBox="1"/>
          <p:nvPr/>
        </p:nvSpPr>
        <p:spPr>
          <a:xfrm>
            <a:off x="5669280" y="12801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1"/>
                </a:solidFill>
              </a:rPr>
              <a:t>PRODUCT CATEGORIES IN THE SALES DATA</a:t>
            </a:r>
            <a:endParaRPr lang="en-US" sz="1200" dirty="0"/>
          </a:p>
        </p:txBody>
      </p:sp>
      <p:sp>
        <p:nvSpPr>
          <p:cNvPr id="14" name="Category card 1"/>
          <p:cNvSpPr/>
          <p:nvPr/>
        </p:nvSpPr>
        <p:spPr>
          <a:xfrm>
            <a:off x="5669280" y="1691640"/>
            <a:ext cx="290779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Category number circle 1"/>
          <p:cNvSpPr/>
          <p:nvPr/>
        </p:nvSpPr>
        <p:spPr>
          <a:xfrm>
            <a:off x="594360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Category number 1"/>
          <p:cNvSpPr txBox="1"/>
          <p:nvPr/>
        </p:nvSpPr>
        <p:spPr>
          <a:xfrm>
            <a:off x="59436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7" name="Category name 1"/>
          <p:cNvSpPr txBox="1"/>
          <p:nvPr/>
        </p:nvSpPr>
        <p:spPr>
          <a:xfrm>
            <a:off x="5943600" y="26974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</a:t>
            </a:r>
            <a:endParaRPr lang="en-US" sz="2200" dirty="0"/>
          </a:p>
        </p:txBody>
      </p:sp>
      <p:sp>
        <p:nvSpPr>
          <p:cNvPr id="18" name="Category code 1"/>
          <p:cNvSpPr txBox="1"/>
          <p:nvPr/>
        </p:nvSpPr>
        <p:spPr>
          <a:xfrm>
            <a:off x="5943600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FINFOOD</a:t>
            </a:r>
            <a:endParaRPr lang="en-US" sz="1400" dirty="0"/>
          </a:p>
        </p:txBody>
      </p:sp>
      <p:sp>
        <p:nvSpPr>
          <p:cNvPr id="19" name="Category card 2"/>
          <p:cNvSpPr/>
          <p:nvPr/>
        </p:nvSpPr>
        <p:spPr>
          <a:xfrm>
            <a:off x="8732520" y="1691640"/>
            <a:ext cx="290779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Category number circle 2"/>
          <p:cNvSpPr/>
          <p:nvPr/>
        </p:nvSpPr>
        <p:spPr>
          <a:xfrm>
            <a:off x="9006840" y="19659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Category number 2"/>
          <p:cNvSpPr txBox="1"/>
          <p:nvPr/>
        </p:nvSpPr>
        <p:spPr>
          <a:xfrm>
            <a:off x="90068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22" name="Category name 2"/>
          <p:cNvSpPr txBox="1"/>
          <p:nvPr/>
        </p:nvSpPr>
        <p:spPr>
          <a:xfrm>
            <a:off x="9006840" y="26974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Beverages</a:t>
            </a:r>
            <a:endParaRPr lang="en-US" sz="2200" dirty="0"/>
          </a:p>
        </p:txBody>
      </p:sp>
      <p:sp>
        <p:nvSpPr>
          <p:cNvPr id="23" name="Category code 2"/>
          <p:cNvSpPr txBox="1"/>
          <p:nvPr/>
        </p:nvSpPr>
        <p:spPr>
          <a:xfrm>
            <a:off x="9006840" y="315468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FINBEVERAG</a:t>
            </a:r>
            <a:endParaRPr lang="en-US" sz="1400" dirty="0"/>
          </a:p>
        </p:txBody>
      </p:sp>
      <p:sp>
        <p:nvSpPr>
          <p:cNvPr id="24" name="Category card 3"/>
          <p:cNvSpPr/>
          <p:nvPr/>
        </p:nvSpPr>
        <p:spPr>
          <a:xfrm>
            <a:off x="5669280" y="4023360"/>
            <a:ext cx="290779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Category number circle 3"/>
          <p:cNvSpPr/>
          <p:nvPr/>
        </p:nvSpPr>
        <p:spPr>
          <a:xfrm>
            <a:off x="5943600" y="4297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6" name="Category number 3"/>
          <p:cNvSpPr txBox="1"/>
          <p:nvPr/>
        </p:nvSpPr>
        <p:spPr>
          <a:xfrm>
            <a:off x="594360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7" name="Category name 3"/>
          <p:cNvSpPr txBox="1"/>
          <p:nvPr/>
        </p:nvSpPr>
        <p:spPr>
          <a:xfrm>
            <a:off x="5943600" y="50292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Alcoholic drinks</a:t>
            </a:r>
            <a:endParaRPr lang="en-US" sz="2200" dirty="0"/>
          </a:p>
        </p:txBody>
      </p:sp>
      <p:sp>
        <p:nvSpPr>
          <p:cNvPr id="28" name="Category code 3"/>
          <p:cNvSpPr txBox="1"/>
          <p:nvPr/>
        </p:nvSpPr>
        <p:spPr>
          <a:xfrm>
            <a:off x="5943600" y="54864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FINALCOHOL</a:t>
            </a:r>
            <a:endParaRPr lang="en-US" sz="1400" dirty="0"/>
          </a:p>
        </p:txBody>
      </p:sp>
      <p:sp>
        <p:nvSpPr>
          <p:cNvPr id="29" name="Category card 4"/>
          <p:cNvSpPr/>
          <p:nvPr/>
        </p:nvSpPr>
        <p:spPr>
          <a:xfrm>
            <a:off x="8732520" y="4023360"/>
            <a:ext cx="2907792" cy="2148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Category number circle 4"/>
          <p:cNvSpPr/>
          <p:nvPr/>
        </p:nvSpPr>
        <p:spPr>
          <a:xfrm>
            <a:off x="9006840" y="429768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Category number 4"/>
          <p:cNvSpPr txBox="1"/>
          <p:nvPr/>
        </p:nvSpPr>
        <p:spPr>
          <a:xfrm>
            <a:off x="9006840" y="4297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Category name 4"/>
          <p:cNvSpPr txBox="1"/>
          <p:nvPr/>
        </p:nvSpPr>
        <p:spPr>
          <a:xfrm>
            <a:off x="9006840" y="502920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goods</a:t>
            </a:r>
            <a:endParaRPr lang="en-US" sz="2200" dirty="0"/>
          </a:p>
        </p:txBody>
      </p:sp>
      <p:sp>
        <p:nvSpPr>
          <p:cNvPr id="33" name="Category code 4"/>
          <p:cNvSpPr txBox="1"/>
          <p:nvPr/>
        </p:nvSpPr>
        <p:spPr>
          <a:xfrm>
            <a:off x="9006840" y="548640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chemeClr val="accent2"/>
                </a:solidFill>
              </a:rPr>
              <a:t>RETAIL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Dataset: Sales.csv</a:t>
            </a:r>
            <a:endParaRPr lang="en-US" sz="3200" dirty="0"/>
          </a:p>
        </p:txBody>
      </p:sp>
      <p:sp>
        <p:nvSpPr>
          <p:cNvPr id="5" name="Stat card 1"/>
          <p:cNvSpPr/>
          <p:nvPr/>
        </p:nvSpPr>
        <p:spPr>
          <a:xfrm>
            <a:off x="548640" y="1280160"/>
            <a:ext cx="2636444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Stat number 1"/>
          <p:cNvSpPr txBox="1"/>
          <p:nvPr/>
        </p:nvSpPr>
        <p:spPr>
          <a:xfrm>
            <a:off x="731520" y="1417320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2,000,000</a:t>
            </a:r>
            <a:endParaRPr lang="en-US" sz="3000" dirty="0"/>
          </a:p>
        </p:txBody>
      </p:sp>
      <p:sp>
        <p:nvSpPr>
          <p:cNvPr id="7" name="Stat label 1"/>
          <p:cNvSpPr txBox="1"/>
          <p:nvPr/>
        </p:nvSpPr>
        <p:spPr>
          <a:xfrm>
            <a:off x="731520" y="21031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sales lines in the raw file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3367964" y="1280160"/>
            <a:ext cx="2636444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Stat number 2"/>
          <p:cNvSpPr txBox="1"/>
          <p:nvPr/>
        </p:nvSpPr>
        <p:spPr>
          <a:xfrm>
            <a:off x="3550844" y="1417320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0" name="Stat label 2"/>
          <p:cNvSpPr txBox="1"/>
          <p:nvPr/>
        </p:nvSpPr>
        <p:spPr>
          <a:xfrm>
            <a:off x="3550844" y="21031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stores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6187288" y="1280160"/>
            <a:ext cx="2636444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tat number 3"/>
          <p:cNvSpPr txBox="1"/>
          <p:nvPr/>
        </p:nvSpPr>
        <p:spPr>
          <a:xfrm>
            <a:off x="6370168" y="1417320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– Dec 2022</a:t>
            </a:r>
            <a:endParaRPr lang="en-US" sz="2600" dirty="0"/>
          </a:p>
        </p:txBody>
      </p:sp>
      <p:sp>
        <p:nvSpPr>
          <p:cNvPr id="13" name="Stat label 3"/>
          <p:cNvSpPr txBox="1"/>
          <p:nvPr/>
        </p:nvSpPr>
        <p:spPr>
          <a:xfrm>
            <a:off x="6370168" y="21031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1 January to 31 December</a:t>
            </a:r>
            <a:endParaRPr lang="en-US" sz="1400" dirty="0"/>
          </a:p>
        </p:txBody>
      </p:sp>
      <p:sp>
        <p:nvSpPr>
          <p:cNvPr id="14" name="Stat card 4"/>
          <p:cNvSpPr/>
          <p:nvPr/>
        </p:nvSpPr>
        <p:spPr>
          <a:xfrm>
            <a:off x="9006611" y="1280160"/>
            <a:ext cx="2636444" cy="1417320"/>
          </a:xfrm>
          <a:prstGeom prst="roundRect">
            <a:avLst>
              <a:gd name="adj" fmla="val 6452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5" name="Stat number 4"/>
          <p:cNvSpPr txBox="1"/>
          <p:nvPr/>
        </p:nvSpPr>
        <p:spPr>
          <a:xfrm>
            <a:off x="9189491" y="1417320"/>
            <a:ext cx="22706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1,998,500</a:t>
            </a:r>
            <a:endParaRPr lang="en-US" sz="3000" dirty="0"/>
          </a:p>
        </p:txBody>
      </p:sp>
      <p:sp>
        <p:nvSpPr>
          <p:cNvPr id="16" name="Stat label 4"/>
          <p:cNvSpPr txBox="1"/>
          <p:nvPr/>
        </p:nvSpPr>
        <p:spPr>
          <a:xfrm>
            <a:off x="9189491" y="2103120"/>
            <a:ext cx="2270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rows kept after validation</a:t>
            </a:r>
            <a:endParaRPr lang="en-US" sz="1400" dirty="0"/>
          </a:p>
        </p:txBody>
      </p:sp>
      <p:sp>
        <p:nvSpPr>
          <p:cNvPr id="17" name="Fields heading"/>
          <p:cNvSpPr txBox="1"/>
          <p:nvPr/>
        </p:nvSpPr>
        <p:spPr>
          <a:xfrm>
            <a:off x="548640" y="2971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1"/>
                </a:solidFill>
              </a:rPr>
              <a:t>FIELDS IN EACH RECORD</a:t>
            </a:r>
            <a:endParaRPr lang="en-US" sz="1200" dirty="0"/>
          </a:p>
        </p:txBody>
      </p:sp>
      <p:sp>
        <p:nvSpPr>
          <p:cNvPr id="18" name="Field chip 1"/>
          <p:cNvSpPr/>
          <p:nvPr/>
        </p:nvSpPr>
        <p:spPr>
          <a:xfrm>
            <a:off x="548640" y="3383280"/>
            <a:ext cx="1276502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Field 1"/>
          <p:cNvSpPr txBox="1"/>
          <p:nvPr/>
        </p:nvSpPr>
        <p:spPr>
          <a:xfrm>
            <a:off x="548640" y="3383280"/>
            <a:ext cx="12765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Store</a:t>
            </a:r>
            <a:endParaRPr lang="en-US" sz="1400" dirty="0"/>
          </a:p>
        </p:txBody>
      </p:sp>
      <p:sp>
        <p:nvSpPr>
          <p:cNvPr id="20" name="Field chip 2"/>
          <p:cNvSpPr/>
          <p:nvPr/>
        </p:nvSpPr>
        <p:spPr>
          <a:xfrm>
            <a:off x="1953158" y="3383280"/>
            <a:ext cx="1360627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1" name="Field 2"/>
          <p:cNvSpPr txBox="1"/>
          <p:nvPr/>
        </p:nvSpPr>
        <p:spPr>
          <a:xfrm>
            <a:off x="1953158" y="3383280"/>
            <a:ext cx="136062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Ticket</a:t>
            </a:r>
            <a:endParaRPr lang="en-US" sz="1400" dirty="0"/>
          </a:p>
        </p:txBody>
      </p:sp>
      <p:sp>
        <p:nvSpPr>
          <p:cNvPr id="22" name="Field chip 3"/>
          <p:cNvSpPr/>
          <p:nvPr/>
        </p:nvSpPr>
        <p:spPr>
          <a:xfrm>
            <a:off x="3441802" y="3383280"/>
            <a:ext cx="1865376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Field 3"/>
          <p:cNvSpPr txBox="1"/>
          <p:nvPr/>
        </p:nvSpPr>
        <p:spPr>
          <a:xfrm>
            <a:off x="3441802" y="338328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Date and time</a:t>
            </a:r>
            <a:endParaRPr lang="en-US" sz="1400" dirty="0"/>
          </a:p>
        </p:txBody>
      </p:sp>
      <p:sp>
        <p:nvSpPr>
          <p:cNvPr id="24" name="Field chip 4"/>
          <p:cNvSpPr/>
          <p:nvPr/>
        </p:nvSpPr>
        <p:spPr>
          <a:xfrm>
            <a:off x="548640" y="3950208"/>
            <a:ext cx="2370125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Field 4"/>
          <p:cNvSpPr txBox="1"/>
          <p:nvPr/>
        </p:nvSpPr>
        <p:spPr>
          <a:xfrm>
            <a:off x="548640" y="3950208"/>
            <a:ext cx="237012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Product identifiers</a:t>
            </a:r>
            <a:endParaRPr lang="en-US" sz="1400" dirty="0"/>
          </a:p>
        </p:txBody>
      </p:sp>
      <p:sp>
        <p:nvSpPr>
          <p:cNvPr id="26" name="Field chip 5"/>
          <p:cNvSpPr/>
          <p:nvPr/>
        </p:nvSpPr>
        <p:spPr>
          <a:xfrm>
            <a:off x="3046781" y="3950208"/>
            <a:ext cx="1613002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7" name="Field 5"/>
          <p:cNvSpPr txBox="1"/>
          <p:nvPr/>
        </p:nvSpPr>
        <p:spPr>
          <a:xfrm>
            <a:off x="3046781" y="3950208"/>
            <a:ext cx="1613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Category</a:t>
            </a:r>
            <a:endParaRPr lang="en-US" sz="1400" dirty="0"/>
          </a:p>
        </p:txBody>
      </p:sp>
      <p:sp>
        <p:nvSpPr>
          <p:cNvPr id="28" name="Field chip 6"/>
          <p:cNvSpPr/>
          <p:nvPr/>
        </p:nvSpPr>
        <p:spPr>
          <a:xfrm>
            <a:off x="4787798" y="3950208"/>
            <a:ext cx="1528877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Field 6"/>
          <p:cNvSpPr txBox="1"/>
          <p:nvPr/>
        </p:nvSpPr>
        <p:spPr>
          <a:xfrm>
            <a:off x="4787798" y="3950208"/>
            <a:ext cx="15288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Quantity</a:t>
            </a:r>
            <a:endParaRPr lang="en-US" sz="1400" dirty="0"/>
          </a:p>
        </p:txBody>
      </p:sp>
      <p:sp>
        <p:nvSpPr>
          <p:cNvPr id="30" name="Field chip 7"/>
          <p:cNvSpPr/>
          <p:nvPr/>
        </p:nvSpPr>
        <p:spPr>
          <a:xfrm>
            <a:off x="548640" y="4517136"/>
            <a:ext cx="1613002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1" name="Field 7"/>
          <p:cNvSpPr txBox="1"/>
          <p:nvPr/>
        </p:nvSpPr>
        <p:spPr>
          <a:xfrm>
            <a:off x="548640" y="4517136"/>
            <a:ext cx="1613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Gross sale</a:t>
            </a:r>
            <a:endParaRPr lang="en-US" sz="1400" dirty="0"/>
          </a:p>
        </p:txBody>
      </p:sp>
      <p:sp>
        <p:nvSpPr>
          <p:cNvPr id="32" name="Field chip 8"/>
          <p:cNvSpPr/>
          <p:nvPr/>
        </p:nvSpPr>
        <p:spPr>
          <a:xfrm>
            <a:off x="2289658" y="4517136"/>
            <a:ext cx="1444752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3" name="Field 8"/>
          <p:cNvSpPr txBox="1"/>
          <p:nvPr/>
        </p:nvSpPr>
        <p:spPr>
          <a:xfrm>
            <a:off x="2289658" y="4517136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Net sale</a:t>
            </a:r>
            <a:endParaRPr lang="en-US" sz="1400" dirty="0"/>
          </a:p>
        </p:txBody>
      </p:sp>
      <p:sp>
        <p:nvSpPr>
          <p:cNvPr id="34" name="Field chip 9"/>
          <p:cNvSpPr/>
          <p:nvPr/>
        </p:nvSpPr>
        <p:spPr>
          <a:xfrm>
            <a:off x="3862426" y="4517136"/>
            <a:ext cx="1528877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5" name="Field 9"/>
          <p:cNvSpPr txBox="1"/>
          <p:nvPr/>
        </p:nvSpPr>
        <p:spPr>
          <a:xfrm>
            <a:off x="3862426" y="4517136"/>
            <a:ext cx="15288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Discount</a:t>
            </a:r>
            <a:endParaRPr lang="en-US" sz="1400" dirty="0"/>
          </a:p>
        </p:txBody>
      </p:sp>
      <p:sp>
        <p:nvSpPr>
          <p:cNvPr id="36" name="Field chip 10"/>
          <p:cNvSpPr/>
          <p:nvPr/>
        </p:nvSpPr>
        <p:spPr>
          <a:xfrm>
            <a:off x="548640" y="5084064"/>
            <a:ext cx="2033626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Field 10"/>
          <p:cNvSpPr txBox="1"/>
          <p:nvPr/>
        </p:nvSpPr>
        <p:spPr>
          <a:xfrm>
            <a:off x="548640" y="5084064"/>
            <a:ext cx="20336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Payment method</a:t>
            </a:r>
            <a:endParaRPr lang="en-US" sz="1400" dirty="0"/>
          </a:p>
        </p:txBody>
      </p:sp>
      <p:sp>
        <p:nvSpPr>
          <p:cNvPr id="38" name="Field chip 11"/>
          <p:cNvSpPr/>
          <p:nvPr/>
        </p:nvSpPr>
        <p:spPr>
          <a:xfrm>
            <a:off x="2710282" y="5084064"/>
            <a:ext cx="1108253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Field 11"/>
          <p:cNvSpPr txBox="1"/>
          <p:nvPr/>
        </p:nvSpPr>
        <p:spPr>
          <a:xfrm>
            <a:off x="2710282" y="5084064"/>
            <a:ext cx="110825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VAT</a:t>
            </a:r>
            <a:endParaRPr lang="en-US" sz="1400" dirty="0"/>
          </a:p>
        </p:txBody>
      </p:sp>
      <p:sp>
        <p:nvSpPr>
          <p:cNvPr id="40" name="Field chip 12"/>
          <p:cNvSpPr/>
          <p:nvPr/>
        </p:nvSpPr>
        <p:spPr>
          <a:xfrm>
            <a:off x="3946550" y="5084064"/>
            <a:ext cx="1528877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1" name="Field 12"/>
          <p:cNvSpPr txBox="1"/>
          <p:nvPr/>
        </p:nvSpPr>
        <p:spPr>
          <a:xfrm>
            <a:off x="3946550" y="5084064"/>
            <a:ext cx="152887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Unit cost</a:t>
            </a:r>
            <a:endParaRPr lang="en-US" sz="1400" dirty="0"/>
          </a:p>
        </p:txBody>
      </p:sp>
      <p:sp>
        <p:nvSpPr>
          <p:cNvPr id="42" name="Field chip 13"/>
          <p:cNvSpPr/>
          <p:nvPr/>
        </p:nvSpPr>
        <p:spPr>
          <a:xfrm>
            <a:off x="548640" y="5650992"/>
            <a:ext cx="1613002" cy="438912"/>
          </a:xfrm>
          <a:prstGeom prst="roundRect">
            <a:avLst>
              <a:gd name="adj" fmla="val 2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3" name="Field 13"/>
          <p:cNvSpPr txBox="1"/>
          <p:nvPr/>
        </p:nvSpPr>
        <p:spPr>
          <a:xfrm>
            <a:off x="548640" y="5650992"/>
            <a:ext cx="1613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Unit price</a:t>
            </a:r>
            <a:endParaRPr lang="en-US" sz="1400" dirty="0"/>
          </a:p>
        </p:txBody>
      </p:sp>
      <p:sp>
        <p:nvSpPr>
          <p:cNvPr id="44" name="Quality card"/>
          <p:cNvSpPr/>
          <p:nvPr/>
        </p:nvSpPr>
        <p:spPr>
          <a:xfrm>
            <a:off x="7315200" y="2971800"/>
            <a:ext cx="4327855" cy="3246120"/>
          </a:xfrm>
          <a:prstGeom prst="roundRect">
            <a:avLst>
              <a:gd name="adj" fmla="val 3380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5" name="Quality heading"/>
          <p:cNvSpPr txBox="1"/>
          <p:nvPr/>
        </p:nvSpPr>
        <p:spPr>
          <a:xfrm>
            <a:off x="758952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DATA QUALITY</a:t>
            </a:r>
            <a:endParaRPr lang="en-US" sz="1200" dirty="0"/>
          </a:p>
        </p:txBody>
      </p:sp>
      <p:sp>
        <p:nvSpPr>
          <p:cNvPr id="46" name="Duplicates number"/>
          <p:cNvSpPr txBox="1"/>
          <p:nvPr/>
        </p:nvSpPr>
        <p:spPr>
          <a:xfrm>
            <a:off x="7589520" y="3520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481,140</a:t>
            </a:r>
            <a:endParaRPr lang="en-US" sz="2800" dirty="0"/>
          </a:p>
        </p:txBody>
      </p:sp>
      <p:sp>
        <p:nvSpPr>
          <p:cNvPr id="47" name="Duplicates label"/>
          <p:cNvSpPr txBox="1"/>
          <p:nvPr/>
        </p:nvSpPr>
        <p:spPr>
          <a:xfrm>
            <a:off x="7589520" y="40233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exact duplicate rows (24.06%), flagged but not deleted</a:t>
            </a:r>
            <a:endParaRPr lang="en-US" sz="1400" dirty="0"/>
          </a:p>
        </p:txBody>
      </p:sp>
      <p:sp>
        <p:nvSpPr>
          <p:cNvPr id="48" name="Excluded number"/>
          <p:cNvSpPr txBox="1"/>
          <p:nvPr/>
        </p:nvSpPr>
        <p:spPr>
          <a:xfrm>
            <a:off x="7589520" y="48006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1,500</a:t>
            </a:r>
            <a:endParaRPr lang="en-US" sz="2800" dirty="0"/>
          </a:p>
        </p:txBody>
      </p:sp>
      <p:sp>
        <p:nvSpPr>
          <p:cNvPr id="49" name="Excluded label"/>
          <p:cNvSpPr txBox="1"/>
          <p:nvPr/>
        </p:nvSpPr>
        <p:spPr>
          <a:xfrm>
            <a:off x="7589520" y="5303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rows with non-positive net sales (0.07%), excluded from the modelling sample</a:t>
            </a:r>
            <a:endParaRPr lang="en-US" sz="140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Objectives</a:t>
            </a:r>
            <a:endParaRPr lang="en-US" sz="3200" dirty="0"/>
          </a:p>
        </p:txBody>
      </p:sp>
      <p:sp>
        <p:nvSpPr>
          <p:cNvPr id="5" name="General objective card"/>
          <p:cNvSpPr/>
          <p:nvPr/>
        </p:nvSpPr>
        <p:spPr>
          <a:xfrm>
            <a:off x="548640" y="1280160"/>
            <a:ext cx="11094415" cy="1188720"/>
          </a:xfrm>
          <a:prstGeom prst="roundRect">
            <a:avLst>
              <a:gd name="adj" fmla="val 76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General objective label"/>
          <p:cNvSpPr txBox="1"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GENERAL OBJECTIVE</a:t>
            </a:r>
            <a:endParaRPr lang="en-US" sz="1200" dirty="0"/>
          </a:p>
        </p:txBody>
      </p:sp>
      <p:sp>
        <p:nvSpPr>
          <p:cNvPr id="7" name="General objective text"/>
          <p:cNvSpPr txBox="1"/>
          <p:nvPr/>
        </p:nvSpPr>
        <p:spPr>
          <a:xfrm>
            <a:off x="822960" y="17373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Build and document a quantitative risk model for the food, beverage and retail sales of the organisation.</a:t>
            </a:r>
            <a:endParaRPr lang="en-US" sz="2000" dirty="0"/>
          </a:p>
        </p:txBody>
      </p:sp>
      <p:sp>
        <p:nvSpPr>
          <p:cNvPr id="8" name="Specific objectives label"/>
          <p:cNvSpPr txBox="1"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tx1"/>
                </a:solidFill>
              </a:rPr>
              <a:t>SPECIFIC OBJECTIVES</a:t>
            </a:r>
            <a:endParaRPr lang="en-US" sz="1200" dirty="0"/>
          </a:p>
        </p:txBody>
      </p:sp>
      <p:sp>
        <p:nvSpPr>
          <p:cNvPr id="9" name="Objective card 1"/>
          <p:cNvSpPr/>
          <p:nvPr/>
        </p:nvSpPr>
        <p:spPr>
          <a:xfrm>
            <a:off x="548640" y="3063240"/>
            <a:ext cx="545576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Objective number circle 1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Objective number 1"/>
          <p:cNvSpPr txBox="1"/>
          <p:nvPr/>
        </p:nvSpPr>
        <p:spPr>
          <a:xfrm>
            <a:off x="731520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2" name="Objective text 1"/>
          <p:cNvSpPr txBox="1"/>
          <p:nvPr/>
        </p:nvSpPr>
        <p:spPr>
          <a:xfrm>
            <a:off x="1417320" y="3136392"/>
            <a:ext cx="440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Validate and clean the transaction data and document every exclusion rule.</a:t>
            </a:r>
            <a:endParaRPr lang="en-US" sz="1400" dirty="0"/>
          </a:p>
        </p:txBody>
      </p:sp>
      <p:sp>
        <p:nvSpPr>
          <p:cNvPr id="13" name="Objective card 2"/>
          <p:cNvSpPr/>
          <p:nvPr/>
        </p:nvSpPr>
        <p:spPr>
          <a:xfrm>
            <a:off x="6187288" y="3063240"/>
            <a:ext cx="545576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4" name="Objective number circle 2"/>
          <p:cNvSpPr/>
          <p:nvPr/>
        </p:nvSpPr>
        <p:spPr>
          <a:xfrm>
            <a:off x="6370168" y="3291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Objective number 2"/>
          <p:cNvSpPr txBox="1"/>
          <p:nvPr/>
        </p:nvSpPr>
        <p:spPr>
          <a:xfrm>
            <a:off x="6370168" y="3291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Objective text 2"/>
          <p:cNvSpPr txBox="1"/>
          <p:nvPr/>
        </p:nvSpPr>
        <p:spPr>
          <a:xfrm>
            <a:off x="7055968" y="3136392"/>
            <a:ext cx="440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Build daily revenue, cost, profit and loss variables and a business-performance baseline.</a:t>
            </a:r>
            <a:endParaRPr lang="en-US" sz="1400" dirty="0"/>
          </a:p>
        </p:txBody>
      </p:sp>
      <p:sp>
        <p:nvSpPr>
          <p:cNvPr id="17" name="Objective card 3"/>
          <p:cNvSpPr/>
          <p:nvPr/>
        </p:nvSpPr>
        <p:spPr>
          <a:xfrm>
            <a:off x="548640" y="4133088"/>
            <a:ext cx="545576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Objective number circle 3"/>
          <p:cNvSpPr/>
          <p:nvPr/>
        </p:nvSpPr>
        <p:spPr>
          <a:xfrm>
            <a:off x="731520" y="43616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Objective number 3"/>
          <p:cNvSpPr txBox="1"/>
          <p:nvPr/>
        </p:nvSpPr>
        <p:spPr>
          <a:xfrm>
            <a:off x="731520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Objective text 3"/>
          <p:cNvSpPr txBox="1"/>
          <p:nvPr/>
        </p:nvSpPr>
        <p:spPr>
          <a:xfrm>
            <a:off x="1417320" y="4206240"/>
            <a:ext cx="440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Estimate Historical, Parametric and Monte Carlo VaR and Expected Shortfall (ES) on the same one-day loss definition, and compare them.</a:t>
            </a:r>
            <a:endParaRPr lang="en-US" sz="1400" dirty="0"/>
          </a:p>
        </p:txBody>
      </p:sp>
      <p:sp>
        <p:nvSpPr>
          <p:cNvPr id="21" name="Objective card 4"/>
          <p:cNvSpPr/>
          <p:nvPr/>
        </p:nvSpPr>
        <p:spPr>
          <a:xfrm>
            <a:off x="6187288" y="4133088"/>
            <a:ext cx="545576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Objective number circle 4"/>
          <p:cNvSpPr/>
          <p:nvPr/>
        </p:nvSpPr>
        <p:spPr>
          <a:xfrm>
            <a:off x="6370168" y="436168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Objective number 4"/>
          <p:cNvSpPr txBox="1"/>
          <p:nvPr/>
        </p:nvSpPr>
        <p:spPr>
          <a:xfrm>
            <a:off x="6370168" y="4361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Objective text 4"/>
          <p:cNvSpPr txBox="1"/>
          <p:nvPr/>
        </p:nvSpPr>
        <p:spPr>
          <a:xfrm>
            <a:off x="7055968" y="4206240"/>
            <a:ext cx="440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Stress test annual profit under sales declines and cost increases of up to 20%.</a:t>
            </a:r>
            <a:endParaRPr lang="en-US" sz="1400" dirty="0"/>
          </a:p>
        </p:txBody>
      </p:sp>
      <p:sp>
        <p:nvSpPr>
          <p:cNvPr id="25" name="Objective card 5"/>
          <p:cNvSpPr/>
          <p:nvPr/>
        </p:nvSpPr>
        <p:spPr>
          <a:xfrm>
            <a:off x="548640" y="5202936"/>
            <a:ext cx="545576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6" name="Objective number circle 5"/>
          <p:cNvSpPr/>
          <p:nvPr/>
        </p:nvSpPr>
        <p:spPr>
          <a:xfrm>
            <a:off x="731520" y="54315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Objective number 5"/>
          <p:cNvSpPr txBox="1"/>
          <p:nvPr/>
        </p:nvSpPr>
        <p:spPr>
          <a:xfrm>
            <a:off x="731520" y="5431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Objective text 5"/>
          <p:cNvSpPr txBox="1"/>
          <p:nvPr/>
        </p:nvSpPr>
        <p:spPr>
          <a:xfrm>
            <a:off x="1417320" y="5276088"/>
            <a:ext cx="440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Measure concentration, discount, margin and demand risks and combine them in an entropy-weighted risk score for each store.</a:t>
            </a:r>
            <a:endParaRPr lang="en-US" sz="1400" dirty="0"/>
          </a:p>
        </p:txBody>
      </p:sp>
      <p:sp>
        <p:nvSpPr>
          <p:cNvPr id="29" name="Objective card 6"/>
          <p:cNvSpPr/>
          <p:nvPr/>
        </p:nvSpPr>
        <p:spPr>
          <a:xfrm>
            <a:off x="6187288" y="5202936"/>
            <a:ext cx="5455768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0" name="Objective number circle 6"/>
          <p:cNvSpPr/>
          <p:nvPr/>
        </p:nvSpPr>
        <p:spPr>
          <a:xfrm>
            <a:off x="6370168" y="5431536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1" name="Objective number 6"/>
          <p:cNvSpPr txBox="1"/>
          <p:nvPr/>
        </p:nvSpPr>
        <p:spPr>
          <a:xfrm>
            <a:off x="6370168" y="54315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Objective text 6"/>
          <p:cNvSpPr txBox="1"/>
          <p:nvPr/>
        </p:nvSpPr>
        <p:spPr>
          <a:xfrm>
            <a:off x="7055968" y="5276088"/>
            <a:ext cx="440420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Translate the results into a risk register and management recommendations.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 label"/>
          <p:cNvSpPr txBox="1"/>
          <p:nvPr/>
        </p:nvSpPr>
        <p:spPr>
          <a:xfrm>
            <a:off x="731520" y="15087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2"/>
                </a:solidFill>
              </a:rPr>
              <a:t>· DETAIL CONCEPT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731520" y="201168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1"/>
                </a:solidFill>
              </a:rPr>
              <a:t>Key Formulas</a:t>
            </a:r>
            <a:endParaRPr lang="en-US" sz="6000" dirty="0"/>
          </a:p>
        </p:txBody>
      </p:sp>
      <p:sp>
        <p:nvSpPr>
          <p:cNvPr id="4" name="Cover subtitle"/>
          <p:cNvSpPr txBox="1"/>
          <p:nvPr/>
        </p:nvSpPr>
        <p:spPr>
          <a:xfrm>
            <a:off x="731520" y="3520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tx2"/>
                </a:solidFill>
              </a:rPr>
              <a:t>Financial Risk Management of Food &amp; Beverage and Retail Sales</a:t>
            </a:r>
            <a:endParaRPr lang="en-US" sz="2400" dirty="0"/>
          </a:p>
        </p:txBody>
      </p:sp>
      <p:sp>
        <p:nvSpPr>
          <p:cNvPr id="5" name="Cover tagline"/>
          <p:cNvSpPr txBox="1"/>
          <p:nvPr/>
        </p:nvSpPr>
        <p:spPr>
          <a:xfrm>
            <a:off x="731520" y="4572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aser label"/>
          <p:cNvSpPr txBox="1"/>
          <p:nvPr/>
        </p:nvSpPr>
        <p:spPr>
          <a:xfrm>
            <a:off x="7863840" y="731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FORMULAS IN THIS DECK</a:t>
            </a:r>
            <a:endParaRPr lang="en-US" sz="1200" dirty="0"/>
          </a:p>
        </p:txBody>
      </p:sp>
      <p:pic>
        <p:nvPicPr>
          <p:cNvPr id="8" name="Teaser formula 1" descr="Formula: \mathrm{VaR}_c=\mu_L+z_c\,\sigma_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9650" y="1585341"/>
            <a:ext cx="2217420" cy="304038"/>
          </a:xfrm>
          <a:prstGeom prst="rect">
            <a:avLst/>
          </a:prstGeom>
        </p:spPr>
      </p:pic>
      <p:pic>
        <p:nvPicPr>
          <p:cNvPr id="9" name="Teaser formula 2" descr="Formula: \mathrm{ES}_c=\frac{1}{N_c}\sum_{i:\,L_i\geq\mathrm{VaR}_c}L_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494" y="2594610"/>
            <a:ext cx="2427732" cy="662940"/>
          </a:xfrm>
          <a:prstGeom prst="rect">
            <a:avLst/>
          </a:prstGeom>
        </p:spPr>
      </p:pic>
      <p:pic>
        <p:nvPicPr>
          <p:cNvPr id="10" name="Teaser formula 3" descr="Formula: \mathrm{HHI}=\sum_{i=1}^{n}s_i^2\times10^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6221" y="3730752"/>
            <a:ext cx="2224278" cy="768096"/>
          </a:xfrm>
          <a:prstGeom prst="rect">
            <a:avLst/>
          </a:prstGeom>
        </p:spPr>
      </p:pic>
      <p:pic>
        <p:nvPicPr>
          <p:cNvPr id="11" name="Teaser formula 4" descr="Formula: CRS_s=\sum_{j=1}^{5}w_j\,S_{sj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5370" y="4876038"/>
            <a:ext cx="2125980" cy="8549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Transaction-line features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310259"/>
            <a:ext cx="11094415" cy="552831"/>
          </a:xfrm>
          <a:prstGeom prst="roundRect">
            <a:avLst>
              <a:gd name="adj" fmla="val 1323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310259"/>
            <a:ext cx="1920240" cy="552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Cost</a:t>
            </a:r>
            <a:endParaRPr lang="en-US" sz="1200" dirty="0"/>
          </a:p>
        </p:txBody>
      </p:sp>
      <p:pic>
        <p:nvPicPr>
          <p:cNvPr id="7" name="Formula 1" descr="Formula: Cos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8855" y="1414081"/>
            <a:ext cx="4231386" cy="345186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1927098"/>
            <a:ext cx="11094415" cy="552831"/>
          </a:xfrm>
          <a:prstGeom prst="roundRect">
            <a:avLst>
              <a:gd name="adj" fmla="val 1323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1927098"/>
            <a:ext cx="1920240" cy="552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Profit</a:t>
            </a:r>
            <a:endParaRPr lang="en-US" sz="1200" dirty="0"/>
          </a:p>
        </p:txBody>
      </p:sp>
      <p:pic>
        <p:nvPicPr>
          <p:cNvPr id="10" name="Formula 2" descr="Formula: Prof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467" y="2030921"/>
            <a:ext cx="3582162" cy="345186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2543937"/>
            <a:ext cx="11094415" cy="741426"/>
          </a:xfrm>
          <a:prstGeom prst="roundRect">
            <a:avLst>
              <a:gd name="adj" fmla="val 986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2543937"/>
            <a:ext cx="1920240" cy="7414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Margin rate</a:t>
            </a:r>
            <a:endParaRPr lang="en-US" sz="1200" dirty="0"/>
          </a:p>
        </p:txBody>
      </p:sp>
      <p:pic>
        <p:nvPicPr>
          <p:cNvPr id="13" name="Formula 3" descr="Formula: Margin rat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8361" y="2646045"/>
            <a:ext cx="2992374" cy="537210"/>
          </a:xfrm>
          <a:prstGeom prst="rect">
            <a:avLst/>
          </a:prstGeom>
        </p:spPr>
      </p:pic>
      <p:sp>
        <p:nvSpPr>
          <p:cNvPr id="14" name="Formula card 4"/>
          <p:cNvSpPr/>
          <p:nvPr/>
        </p:nvSpPr>
        <p:spPr>
          <a:xfrm>
            <a:off x="548640" y="3349371"/>
            <a:ext cx="11094415" cy="737616"/>
          </a:xfrm>
          <a:prstGeom prst="roundRect">
            <a:avLst>
              <a:gd name="adj" fmla="val 99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Formula label 4"/>
          <p:cNvSpPr txBox="1"/>
          <p:nvPr/>
        </p:nvSpPr>
        <p:spPr>
          <a:xfrm>
            <a:off x="777240" y="3349371"/>
            <a:ext cx="1920240" cy="737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Discount rate</a:t>
            </a:r>
            <a:endParaRPr lang="en-US" sz="1200" dirty="0"/>
          </a:p>
        </p:txBody>
      </p:sp>
      <p:pic>
        <p:nvPicPr>
          <p:cNvPr id="16" name="Formula 4" descr="Formula: Discount rat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3477" y="3449574"/>
            <a:ext cx="3422142" cy="537210"/>
          </a:xfrm>
          <a:prstGeom prst="rect">
            <a:avLst/>
          </a:prstGeom>
        </p:spPr>
      </p:pic>
      <p:sp>
        <p:nvSpPr>
          <p:cNvPr id="17" name="Parameter panel"/>
          <p:cNvSpPr/>
          <p:nvPr/>
        </p:nvSpPr>
        <p:spPr>
          <a:xfrm>
            <a:off x="548640" y="4254246"/>
            <a:ext cx="11094415" cy="2100834"/>
          </a:xfrm>
          <a:prstGeom prst="roundRect">
            <a:avLst>
              <a:gd name="adj" fmla="val 435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Panel title"/>
          <p:cNvSpPr txBox="1"/>
          <p:nvPr/>
        </p:nvSpPr>
        <p:spPr>
          <a:xfrm>
            <a:off x="749808" y="436397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9" name="Symbol chip 1"/>
          <p:cNvSpPr/>
          <p:nvPr/>
        </p:nvSpPr>
        <p:spPr>
          <a:xfrm>
            <a:off x="749808" y="4656582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1" descr="Symbol: 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7320" y="4700587"/>
            <a:ext cx="102870" cy="221742"/>
          </a:xfrm>
          <a:prstGeom prst="rect">
            <a:avLst/>
          </a:prstGeom>
        </p:spPr>
      </p:pic>
      <p:sp>
        <p:nvSpPr>
          <p:cNvPr id="21" name="Meaning 1"/>
          <p:cNvSpPr txBox="1"/>
          <p:nvPr/>
        </p:nvSpPr>
        <p:spPr>
          <a:xfrm>
            <a:off x="2315718" y="4638294"/>
            <a:ext cx="181523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Identifies a transaction line</a:t>
            </a:r>
            <a:endParaRPr lang="en-US" sz="1100" dirty="0"/>
          </a:p>
        </p:txBody>
      </p:sp>
      <p:sp>
        <p:nvSpPr>
          <p:cNvPr id="22" name="Symbol chip 2"/>
          <p:cNvSpPr/>
          <p:nvPr/>
        </p:nvSpPr>
        <p:spPr>
          <a:xfrm>
            <a:off x="4405274" y="4656582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2" descr="Symbol: \mathrm{UnitCost}_t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99025" y="4700587"/>
            <a:ext cx="850392" cy="221742"/>
          </a:xfrm>
          <a:prstGeom prst="rect">
            <a:avLst/>
          </a:prstGeom>
        </p:spPr>
      </p:pic>
      <p:sp>
        <p:nvSpPr>
          <p:cNvPr id="24" name="Meaning 2"/>
          <p:cNvSpPr txBox="1"/>
          <p:nvPr/>
        </p:nvSpPr>
        <p:spPr>
          <a:xfrm>
            <a:off x="5971184" y="4638294"/>
            <a:ext cx="181523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Cost of one unit on line t</a:t>
            </a:r>
            <a:endParaRPr lang="en-US" sz="1100" dirty="0"/>
          </a:p>
        </p:txBody>
      </p:sp>
      <p:sp>
        <p:nvSpPr>
          <p:cNvPr id="25" name="Symbol chip 3"/>
          <p:cNvSpPr/>
          <p:nvPr/>
        </p:nvSpPr>
        <p:spPr>
          <a:xfrm>
            <a:off x="8060741" y="4656582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3" descr="Symbol: \mathrm{Quantity}_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5635" y="4700587"/>
            <a:ext cx="848106" cy="221742"/>
          </a:xfrm>
          <a:prstGeom prst="rect">
            <a:avLst/>
          </a:prstGeom>
        </p:spPr>
      </p:pic>
      <p:sp>
        <p:nvSpPr>
          <p:cNvPr id="27" name="Meaning 3"/>
          <p:cNvSpPr txBox="1"/>
          <p:nvPr/>
        </p:nvSpPr>
        <p:spPr>
          <a:xfrm>
            <a:off x="9626651" y="4638294"/>
            <a:ext cx="181523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Units sold on line t</a:t>
            </a:r>
            <a:endParaRPr lang="en-US" sz="1100" dirty="0"/>
          </a:p>
        </p:txBody>
      </p:sp>
      <p:sp>
        <p:nvSpPr>
          <p:cNvPr id="28" name="Symbol chip 4"/>
          <p:cNvSpPr/>
          <p:nvPr/>
        </p:nvSpPr>
        <p:spPr>
          <a:xfrm>
            <a:off x="749808" y="5067490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4" descr="Symbol: \mathrm{GrossSale}_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8413" y="5111496"/>
            <a:ext cx="900684" cy="221742"/>
          </a:xfrm>
          <a:prstGeom prst="rect">
            <a:avLst/>
          </a:prstGeom>
        </p:spPr>
      </p:pic>
      <p:sp>
        <p:nvSpPr>
          <p:cNvPr id="30" name="Meaning 4"/>
          <p:cNvSpPr txBox="1"/>
          <p:nvPr/>
        </p:nvSpPr>
        <p:spPr>
          <a:xfrm>
            <a:off x="2315718" y="5021199"/>
            <a:ext cx="1815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Revenue before discount</a:t>
            </a:r>
            <a:endParaRPr lang="en-US" sz="1100" dirty="0"/>
          </a:p>
        </p:txBody>
      </p:sp>
      <p:sp>
        <p:nvSpPr>
          <p:cNvPr id="31" name="Symbol chip 5"/>
          <p:cNvSpPr/>
          <p:nvPr/>
        </p:nvSpPr>
        <p:spPr>
          <a:xfrm>
            <a:off x="4405274" y="5067490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5" descr="Symbol: \mathrm{Discount}_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08169" y="5111496"/>
            <a:ext cx="832104" cy="221742"/>
          </a:xfrm>
          <a:prstGeom prst="rect">
            <a:avLst/>
          </a:prstGeom>
        </p:spPr>
      </p:pic>
      <p:sp>
        <p:nvSpPr>
          <p:cNvPr id="33" name="Meaning 5"/>
          <p:cNvSpPr txBox="1"/>
          <p:nvPr/>
        </p:nvSpPr>
        <p:spPr>
          <a:xfrm>
            <a:off x="5971184" y="5021199"/>
            <a:ext cx="1815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Amount discounted on line t</a:t>
            </a:r>
            <a:endParaRPr lang="en-US" sz="1100" dirty="0"/>
          </a:p>
        </p:txBody>
      </p:sp>
      <p:sp>
        <p:nvSpPr>
          <p:cNvPr id="34" name="Symbol chip 6"/>
          <p:cNvSpPr/>
          <p:nvPr/>
        </p:nvSpPr>
        <p:spPr>
          <a:xfrm>
            <a:off x="8060741" y="5067490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6" descr="Symbol: \mathrm{NetSale}_t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3928" y="5111496"/>
            <a:ext cx="731520" cy="221742"/>
          </a:xfrm>
          <a:prstGeom prst="rect">
            <a:avLst/>
          </a:prstGeom>
        </p:spPr>
      </p:pic>
      <p:sp>
        <p:nvSpPr>
          <p:cNvPr id="36" name="Meaning 6"/>
          <p:cNvSpPr txBox="1"/>
          <p:nvPr/>
        </p:nvSpPr>
        <p:spPr>
          <a:xfrm>
            <a:off x="9626651" y="5021199"/>
            <a:ext cx="1815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Revenue collected after discount</a:t>
            </a:r>
            <a:endParaRPr lang="en-US" sz="1100" dirty="0"/>
          </a:p>
        </p:txBody>
      </p:sp>
      <p:sp>
        <p:nvSpPr>
          <p:cNvPr id="37" name="Symbol chip 7"/>
          <p:cNvSpPr/>
          <p:nvPr/>
        </p:nvSpPr>
        <p:spPr>
          <a:xfrm>
            <a:off x="749808" y="5478399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7" descr="Symbol: \mathrm{Cost}_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31011" y="5522404"/>
            <a:ext cx="475488" cy="221742"/>
          </a:xfrm>
          <a:prstGeom prst="rect">
            <a:avLst/>
          </a:prstGeom>
        </p:spPr>
      </p:pic>
      <p:sp>
        <p:nvSpPr>
          <p:cNvPr id="39" name="Meaning 7"/>
          <p:cNvSpPr txBox="1"/>
          <p:nvPr/>
        </p:nvSpPr>
        <p:spPr>
          <a:xfrm>
            <a:off x="2315718" y="5460111"/>
            <a:ext cx="181523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Unit cost times quantity</a:t>
            </a:r>
            <a:endParaRPr lang="en-US" sz="1100" dirty="0"/>
          </a:p>
        </p:txBody>
      </p:sp>
      <p:sp>
        <p:nvSpPr>
          <p:cNvPr id="40" name="Symbol chip 8"/>
          <p:cNvSpPr/>
          <p:nvPr/>
        </p:nvSpPr>
        <p:spPr>
          <a:xfrm>
            <a:off x="4405274" y="5478399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8" descr="Symbol: \mathrm{Profit}_t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36185" y="5522404"/>
            <a:ext cx="576072" cy="221742"/>
          </a:xfrm>
          <a:prstGeom prst="rect">
            <a:avLst/>
          </a:prstGeom>
        </p:spPr>
      </p:pic>
      <p:sp>
        <p:nvSpPr>
          <p:cNvPr id="42" name="Meaning 8"/>
          <p:cNvSpPr txBox="1"/>
          <p:nvPr/>
        </p:nvSpPr>
        <p:spPr>
          <a:xfrm>
            <a:off x="5971184" y="5460111"/>
            <a:ext cx="181523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Net sale minus total cost</a:t>
            </a:r>
            <a:endParaRPr lang="en-US" sz="1100" dirty="0"/>
          </a:p>
        </p:txBody>
      </p:sp>
      <p:sp>
        <p:nvSpPr>
          <p:cNvPr id="43" name="Symbol chip 9"/>
          <p:cNvSpPr/>
          <p:nvPr/>
        </p:nvSpPr>
        <p:spPr>
          <a:xfrm>
            <a:off x="8060741" y="5478399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4" name="Symbol 9" descr="Symbol: \mathrm{MarginRate}_t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7906" y="5522404"/>
            <a:ext cx="1083564" cy="221742"/>
          </a:xfrm>
          <a:prstGeom prst="rect">
            <a:avLst/>
          </a:prstGeom>
        </p:spPr>
      </p:pic>
      <p:sp>
        <p:nvSpPr>
          <p:cNvPr id="45" name="Meaning 9"/>
          <p:cNvSpPr txBox="1"/>
          <p:nvPr/>
        </p:nvSpPr>
        <p:spPr>
          <a:xfrm>
            <a:off x="9626651" y="5460111"/>
            <a:ext cx="181523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Profit divided by net sale</a:t>
            </a:r>
            <a:endParaRPr lang="en-US" sz="1100" dirty="0"/>
          </a:p>
        </p:txBody>
      </p:sp>
      <p:sp>
        <p:nvSpPr>
          <p:cNvPr id="46" name="Symbol chip 10"/>
          <p:cNvSpPr/>
          <p:nvPr/>
        </p:nvSpPr>
        <p:spPr>
          <a:xfrm>
            <a:off x="749808" y="5889307"/>
            <a:ext cx="14378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Symbol 10" descr="Symbol: \mathrm{DiscountRate}_t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6107" y="5933313"/>
            <a:ext cx="1225296" cy="221742"/>
          </a:xfrm>
          <a:prstGeom prst="rect">
            <a:avLst/>
          </a:prstGeom>
        </p:spPr>
      </p:pic>
      <p:sp>
        <p:nvSpPr>
          <p:cNvPr id="48" name="Meaning 10"/>
          <p:cNvSpPr txBox="1"/>
          <p:nvPr/>
        </p:nvSpPr>
        <p:spPr>
          <a:xfrm>
            <a:off x="2315718" y="5843016"/>
            <a:ext cx="18152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Discount divided by gross sale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5.1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Daily profit and daily loss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422654"/>
            <a:ext cx="11094415" cy="1316736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422654"/>
            <a:ext cx="19202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Daily profit</a:t>
            </a:r>
            <a:endParaRPr lang="en-US" sz="1200" dirty="0"/>
          </a:p>
        </p:txBody>
      </p:sp>
      <p:pic>
        <p:nvPicPr>
          <p:cNvPr id="7" name="Formula 1" descr="Formula: Daily prof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8" y="1535811"/>
            <a:ext cx="5669280" cy="1090422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881884"/>
            <a:ext cx="11094415" cy="1008888"/>
          </a:xfrm>
          <a:prstGeom prst="roundRect">
            <a:avLst>
              <a:gd name="adj" fmla="val 725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945892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Profit change</a:t>
            </a:r>
            <a:endParaRPr lang="en-US" sz="1200" dirty="0"/>
          </a:p>
        </p:txBody>
      </p:sp>
      <p:pic>
        <p:nvPicPr>
          <p:cNvPr id="10" name="Formula 2" descr="Formula: Profit chan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0147" y="3229356"/>
            <a:ext cx="8931402" cy="525780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4033266"/>
            <a:ext cx="11094415" cy="752856"/>
          </a:xfrm>
          <a:prstGeom prst="roundRect">
            <a:avLst>
              <a:gd name="adj" fmla="val 97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4033266"/>
            <a:ext cx="1920240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Daily loss</a:t>
            </a:r>
            <a:endParaRPr lang="en-US" sz="1200" dirty="0"/>
          </a:p>
        </p:txBody>
      </p:sp>
      <p:pic>
        <p:nvPicPr>
          <p:cNvPr id="13" name="Formula 3" descr="Formula: Daily los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6297" y="4147947"/>
            <a:ext cx="4016502" cy="523494"/>
          </a:xfrm>
          <a:prstGeom prst="rect">
            <a:avLst/>
          </a:prstGeom>
        </p:spPr>
      </p:pic>
      <p:sp>
        <p:nvSpPr>
          <p:cNvPr id="14" name="Parameter panel"/>
          <p:cNvSpPr/>
          <p:nvPr/>
        </p:nvSpPr>
        <p:spPr>
          <a:xfrm>
            <a:off x="548640" y="5065776"/>
            <a:ext cx="11094415" cy="1289304"/>
          </a:xfrm>
          <a:prstGeom prst="roundRect">
            <a:avLst>
              <a:gd name="adj" fmla="val 709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Panel title"/>
          <p:cNvSpPr txBox="1"/>
          <p:nvPr/>
        </p:nvSpPr>
        <p:spPr>
          <a:xfrm>
            <a:off x="749808" y="517550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6" name="Symbol chip 1"/>
          <p:cNvSpPr/>
          <p:nvPr/>
        </p:nvSpPr>
        <p:spPr>
          <a:xfrm>
            <a:off x="749808" y="5473255"/>
            <a:ext cx="123672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1" descr="Symbol: 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16736" y="5517261"/>
            <a:ext cx="102870" cy="221742"/>
          </a:xfrm>
          <a:prstGeom prst="rect">
            <a:avLst/>
          </a:prstGeom>
        </p:spPr>
      </p:pic>
      <p:sp>
        <p:nvSpPr>
          <p:cNvPr id="18" name="Meaning 1"/>
          <p:cNvSpPr txBox="1"/>
          <p:nvPr/>
        </p:nvSpPr>
        <p:spPr>
          <a:xfrm>
            <a:off x="2114550" y="5449824"/>
            <a:ext cx="2016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Identifies a day</a:t>
            </a:r>
            <a:endParaRPr lang="en-US" sz="1100" dirty="0"/>
          </a:p>
        </p:txBody>
      </p:sp>
      <p:sp>
        <p:nvSpPr>
          <p:cNvPr id="19" name="Symbol chip 2"/>
          <p:cNvSpPr/>
          <p:nvPr/>
        </p:nvSpPr>
        <p:spPr>
          <a:xfrm>
            <a:off x="4405274" y="5473255"/>
            <a:ext cx="123672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2" descr="Symbol: 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5631" y="5517261"/>
            <a:ext cx="96012" cy="221742"/>
          </a:xfrm>
          <a:prstGeom prst="rect">
            <a:avLst/>
          </a:prstGeom>
        </p:spPr>
      </p:pic>
      <p:sp>
        <p:nvSpPr>
          <p:cNvPr id="21" name="Meaning 2"/>
          <p:cNvSpPr txBox="1"/>
          <p:nvPr/>
        </p:nvSpPr>
        <p:spPr>
          <a:xfrm>
            <a:off x="5770016" y="5449824"/>
            <a:ext cx="2016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 transaction occurring on day t</a:t>
            </a:r>
            <a:endParaRPr lang="en-US" sz="1100" dirty="0"/>
          </a:p>
        </p:txBody>
      </p:sp>
      <p:sp>
        <p:nvSpPr>
          <p:cNvPr id="22" name="Symbol chip 3"/>
          <p:cNvSpPr/>
          <p:nvPr/>
        </p:nvSpPr>
        <p:spPr>
          <a:xfrm>
            <a:off x="8060741" y="5468112"/>
            <a:ext cx="1236726" cy="3200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3" descr="Symbol: \mathrm{Profit}_{i,t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7347" y="5509260"/>
            <a:ext cx="683514" cy="237744"/>
          </a:xfrm>
          <a:prstGeom prst="rect">
            <a:avLst/>
          </a:prstGeom>
        </p:spPr>
      </p:pic>
      <p:sp>
        <p:nvSpPr>
          <p:cNvPr id="24" name="Meaning 3"/>
          <p:cNvSpPr txBox="1"/>
          <p:nvPr/>
        </p:nvSpPr>
        <p:spPr>
          <a:xfrm>
            <a:off x="9425483" y="5449824"/>
            <a:ext cx="201640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Profit of transaction i on day t</a:t>
            </a:r>
            <a:endParaRPr lang="en-US" sz="1100" dirty="0"/>
          </a:p>
        </p:txBody>
      </p:sp>
      <p:sp>
        <p:nvSpPr>
          <p:cNvPr id="25" name="Symbol chip 4"/>
          <p:cNvSpPr/>
          <p:nvPr/>
        </p:nvSpPr>
        <p:spPr>
          <a:xfrm>
            <a:off x="749808" y="5889307"/>
            <a:ext cx="123672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4" descr="Symbol: \mathrm{DailyProfit}_t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107" y="5933313"/>
            <a:ext cx="1024128" cy="221742"/>
          </a:xfrm>
          <a:prstGeom prst="rect">
            <a:avLst/>
          </a:prstGeom>
        </p:spPr>
      </p:pic>
      <p:sp>
        <p:nvSpPr>
          <p:cNvPr id="27" name="Meaning 4"/>
          <p:cNvSpPr txBox="1"/>
          <p:nvPr/>
        </p:nvSpPr>
        <p:spPr>
          <a:xfrm>
            <a:off x="2114550" y="5843016"/>
            <a:ext cx="20164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Total profit of day t</a:t>
            </a:r>
            <a:endParaRPr lang="en-US" sz="1100" dirty="0"/>
          </a:p>
        </p:txBody>
      </p:sp>
      <p:sp>
        <p:nvSpPr>
          <p:cNvPr id="28" name="Symbol chip 5"/>
          <p:cNvSpPr/>
          <p:nvPr/>
        </p:nvSpPr>
        <p:spPr>
          <a:xfrm>
            <a:off x="4405274" y="5889307"/>
            <a:ext cx="123672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5" descr="Symbol: \Delta\mathrm{Profit}_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55591" y="5933313"/>
            <a:ext cx="736092" cy="221742"/>
          </a:xfrm>
          <a:prstGeom prst="rect">
            <a:avLst/>
          </a:prstGeom>
        </p:spPr>
      </p:pic>
      <p:sp>
        <p:nvSpPr>
          <p:cNvPr id="30" name="Meaning 5"/>
          <p:cNvSpPr txBox="1"/>
          <p:nvPr/>
        </p:nvSpPr>
        <p:spPr>
          <a:xfrm>
            <a:off x="5770016" y="5843016"/>
            <a:ext cx="20164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Change in profit from day t−1 to day t</a:t>
            </a:r>
            <a:endParaRPr lang="en-US" sz="1100" dirty="0"/>
          </a:p>
        </p:txBody>
      </p:sp>
      <p:sp>
        <p:nvSpPr>
          <p:cNvPr id="31" name="Symbol chip 6"/>
          <p:cNvSpPr/>
          <p:nvPr/>
        </p:nvSpPr>
        <p:spPr>
          <a:xfrm>
            <a:off x="8060741" y="5889307"/>
            <a:ext cx="123672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6" descr="Symbol: \mathrm{Loss}_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0504" y="5933313"/>
            <a:ext cx="457200" cy="221742"/>
          </a:xfrm>
          <a:prstGeom prst="rect">
            <a:avLst/>
          </a:prstGeom>
        </p:spPr>
      </p:pic>
      <p:sp>
        <p:nvSpPr>
          <p:cNvPr id="33" name="Meaning 6"/>
          <p:cNvSpPr txBox="1"/>
          <p:nvPr/>
        </p:nvSpPr>
        <p:spPr>
          <a:xfrm>
            <a:off x="9425483" y="5843016"/>
            <a:ext cx="20164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Negative of the profit change; a fall is a positive loss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5.2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Sample mean and standard deviation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403858"/>
            <a:ext cx="11094415" cy="1578864"/>
          </a:xfrm>
          <a:prstGeom prst="roundRect">
            <a:avLst>
              <a:gd name="adj" fmla="val 46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403858"/>
            <a:ext cx="1920240" cy="157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Sample mean</a:t>
            </a:r>
            <a:endParaRPr lang="en-US" sz="1200" dirty="0"/>
          </a:p>
        </p:txBody>
      </p:sp>
      <p:pic>
        <p:nvPicPr>
          <p:cNvPr id="7" name="Formula 1" descr="Formula: Sample mea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2" y="1517777"/>
            <a:ext cx="2404872" cy="1351026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3106420"/>
            <a:ext cx="11094415" cy="1764792"/>
          </a:xfrm>
          <a:prstGeom prst="roundRect">
            <a:avLst>
              <a:gd name="adj" fmla="val 414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3106420"/>
            <a:ext cx="1920240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Sample standard deviation</a:t>
            </a:r>
            <a:endParaRPr lang="en-US" sz="1200" dirty="0"/>
          </a:p>
        </p:txBody>
      </p:sp>
      <p:pic>
        <p:nvPicPr>
          <p:cNvPr id="10" name="Formula 2" descr="Formula: Sample standard devia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516" y="3216148"/>
            <a:ext cx="5084064" cy="1545336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5132070"/>
            <a:ext cx="11094415" cy="1223010"/>
          </a:xfrm>
          <a:prstGeom prst="roundRect">
            <a:avLst>
              <a:gd name="adj" fmla="val 7477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524179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9833" y="5578412"/>
            <a:ext cx="148590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426464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daily-loss observations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L_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3295" y="5578412"/>
            <a:ext cx="212598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081930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recorded for observation t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\bar{L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3908" y="5578412"/>
            <a:ext cx="162306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8737397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average of the daily losses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91731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692" y="5961317"/>
            <a:ext cx="118872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426464" y="589902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standard deviation of the losses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5.2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Skewness and excess kurtosis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280617"/>
            <a:ext cx="11094415" cy="1476908"/>
          </a:xfrm>
          <a:prstGeom prst="roundRect">
            <a:avLst>
              <a:gd name="adj" fmla="val 495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280617"/>
            <a:ext cx="1920240" cy="147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Skewness</a:t>
            </a:r>
            <a:endParaRPr lang="en-US" sz="1200" dirty="0"/>
          </a:p>
        </p:txBody>
      </p:sp>
      <p:pic>
        <p:nvPicPr>
          <p:cNvPr id="7" name="Formula 1" descr="Formula: Skewn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350" y="1389278"/>
            <a:ext cx="5454396" cy="1259586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821534"/>
            <a:ext cx="11094415" cy="2116912"/>
          </a:xfrm>
          <a:prstGeom prst="roundRect">
            <a:avLst>
              <a:gd name="adj" fmla="val 34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821534"/>
            <a:ext cx="1920240" cy="2116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Excess kurtosis</a:t>
            </a:r>
            <a:endParaRPr lang="en-US" sz="1200" dirty="0"/>
          </a:p>
        </p:txBody>
      </p:sp>
      <p:pic>
        <p:nvPicPr>
          <p:cNvPr id="10" name="Formula 2" descr="Formula: Excess kurtosi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834" y="2933586"/>
            <a:ext cx="4567428" cy="1892808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5076063"/>
            <a:ext cx="11094415" cy="1279017"/>
          </a:xfrm>
          <a:prstGeom prst="roundRect">
            <a:avLst>
              <a:gd name="adj" fmla="val 7149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518579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478399"/>
            <a:ext cx="56349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263" y="5522405"/>
            <a:ext cx="148590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441323" y="5460111"/>
            <a:ext cx="2689631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daily-loss observations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478399"/>
            <a:ext cx="56349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L_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0725" y="5522405"/>
            <a:ext cx="212598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096789" y="5460111"/>
            <a:ext cx="2689631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recorded for observation t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478399"/>
            <a:ext cx="56349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\bar{L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1337" y="5522405"/>
            <a:ext cx="162306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8752256" y="5460111"/>
            <a:ext cx="2689631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average of the losses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889308"/>
            <a:ext cx="56349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2121" y="5933313"/>
            <a:ext cx="118872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441323" y="5843016"/>
            <a:ext cx="26896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standard deviation</a:t>
            </a:r>
            <a:endParaRPr lang="en-US" sz="1100" dirty="0"/>
          </a:p>
        </p:txBody>
      </p:sp>
      <p:sp>
        <p:nvSpPr>
          <p:cNvPr id="25" name="Symbol chip 5"/>
          <p:cNvSpPr/>
          <p:nvPr/>
        </p:nvSpPr>
        <p:spPr>
          <a:xfrm>
            <a:off x="4405274" y="5889308"/>
            <a:ext cx="56349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5" descr="Symbol: G_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63580" y="5933313"/>
            <a:ext cx="246888" cy="221742"/>
          </a:xfrm>
          <a:prstGeom prst="rect">
            <a:avLst/>
          </a:prstGeom>
        </p:spPr>
      </p:pic>
      <p:sp>
        <p:nvSpPr>
          <p:cNvPr id="27" name="Meaning 5"/>
          <p:cNvSpPr txBox="1"/>
          <p:nvPr/>
        </p:nvSpPr>
        <p:spPr>
          <a:xfrm>
            <a:off x="5096789" y="5843016"/>
            <a:ext cx="26896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skewness: asymmetry of the loss distribution</a:t>
            </a:r>
            <a:endParaRPr lang="en-US" sz="1100" dirty="0"/>
          </a:p>
        </p:txBody>
      </p:sp>
      <p:sp>
        <p:nvSpPr>
          <p:cNvPr id="28" name="Symbol chip 6"/>
          <p:cNvSpPr/>
          <p:nvPr/>
        </p:nvSpPr>
        <p:spPr>
          <a:xfrm>
            <a:off x="8060741" y="5889308"/>
            <a:ext cx="56349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6" descr="Symbol: EK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67611" y="5933313"/>
            <a:ext cx="349758" cy="221742"/>
          </a:xfrm>
          <a:prstGeom prst="rect">
            <a:avLst/>
          </a:prstGeom>
        </p:spPr>
      </p:pic>
      <p:sp>
        <p:nvSpPr>
          <p:cNvPr id="30" name="Meaning 6"/>
          <p:cNvSpPr txBox="1"/>
          <p:nvPr/>
        </p:nvSpPr>
        <p:spPr>
          <a:xfrm>
            <a:off x="8752256" y="5843016"/>
            <a:ext cx="268963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Excess kurtosis = kurtosis − 3; zero means Normal tails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5.2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Jarque-Bera normality test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2024444"/>
            <a:ext cx="11094415" cy="978408"/>
          </a:xfrm>
          <a:prstGeom prst="roundRect">
            <a:avLst>
              <a:gd name="adj" fmla="val 747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2024444"/>
            <a:ext cx="192024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Jarque-Bera statistic</a:t>
            </a:r>
            <a:endParaRPr lang="en-US" sz="1200" dirty="0"/>
          </a:p>
        </p:txBody>
      </p:sp>
      <p:pic>
        <p:nvPicPr>
          <p:cNvPr id="7" name="Formula 1" descr="Formula: Jarque-Bera statisti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650" y="2138744"/>
            <a:ext cx="7511796" cy="749808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3277172"/>
            <a:ext cx="11094415" cy="917448"/>
          </a:xfrm>
          <a:prstGeom prst="roundRect">
            <a:avLst>
              <a:gd name="adj" fmla="val 797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3277172"/>
            <a:ext cx="1920240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p-value, 2 degrees of freedom</a:t>
            </a:r>
            <a:endParaRPr lang="en-US" sz="1200" dirty="0"/>
          </a:p>
        </p:txBody>
      </p:sp>
      <p:pic>
        <p:nvPicPr>
          <p:cNvPr id="10" name="Formula 2" descr="Formula: p-value, 2 degrees of freedo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213" y="3388424"/>
            <a:ext cx="3074670" cy="694944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5076063"/>
            <a:ext cx="11094415" cy="1279017"/>
          </a:xfrm>
          <a:prstGeom prst="roundRect">
            <a:avLst>
              <a:gd name="adj" fmla="val 7149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518579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478399"/>
            <a:ext cx="68808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" y="5522405"/>
            <a:ext cx="148590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565910" y="5460111"/>
            <a:ext cx="25650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observations in the sample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478399"/>
            <a:ext cx="68808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8164" y="5522405"/>
            <a:ext cx="162306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221376" y="5460111"/>
            <a:ext cx="25650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skewness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478399"/>
            <a:ext cx="68808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EK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905" y="5522405"/>
            <a:ext cx="349758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8876843" y="5460111"/>
            <a:ext cx="2565044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excess kurtosis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889308"/>
            <a:ext cx="68808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JB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690" y="5933313"/>
            <a:ext cx="290322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565910" y="5843016"/>
            <a:ext cx="2565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Jarque-Bera test statistic</a:t>
            </a:r>
            <a:endParaRPr lang="en-US" sz="1100" dirty="0"/>
          </a:p>
        </p:txBody>
      </p:sp>
      <p:sp>
        <p:nvSpPr>
          <p:cNvPr id="25" name="Symbol chip 5"/>
          <p:cNvSpPr/>
          <p:nvPr/>
        </p:nvSpPr>
        <p:spPr>
          <a:xfrm>
            <a:off x="4405274" y="5875591"/>
            <a:ext cx="688086" cy="337185"/>
          </a:xfrm>
          <a:prstGeom prst="roundRect">
            <a:avLst>
              <a:gd name="adj" fmla="val 1898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5" descr="Symbol: \chi^2(2)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1573" y="5917311"/>
            <a:ext cx="475488" cy="253746"/>
          </a:xfrm>
          <a:prstGeom prst="rect">
            <a:avLst/>
          </a:prstGeom>
        </p:spPr>
      </p:pic>
      <p:sp>
        <p:nvSpPr>
          <p:cNvPr id="27" name="Meaning 5"/>
          <p:cNvSpPr txBox="1"/>
          <p:nvPr/>
        </p:nvSpPr>
        <p:spPr>
          <a:xfrm>
            <a:off x="5221376" y="5843016"/>
            <a:ext cx="2565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Chi-square law with 2 degrees of freedom under Normality</a:t>
            </a:r>
            <a:endParaRPr lang="en-US" sz="1100" dirty="0"/>
          </a:p>
        </p:txBody>
      </p:sp>
      <p:sp>
        <p:nvSpPr>
          <p:cNvPr id="28" name="Symbol chip 6"/>
          <p:cNvSpPr/>
          <p:nvPr/>
        </p:nvSpPr>
        <p:spPr>
          <a:xfrm>
            <a:off x="8060741" y="5889308"/>
            <a:ext cx="688086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6" descr="Symbol: p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5061" y="5933313"/>
            <a:ext cx="139446" cy="221742"/>
          </a:xfrm>
          <a:prstGeom prst="rect">
            <a:avLst/>
          </a:prstGeom>
        </p:spPr>
      </p:pic>
      <p:sp>
        <p:nvSpPr>
          <p:cNvPr id="30" name="Meaning 6"/>
          <p:cNvSpPr txBox="1"/>
          <p:nvPr/>
        </p:nvSpPr>
        <p:spPr>
          <a:xfrm>
            <a:off x="8876843" y="5843016"/>
            <a:ext cx="25650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p-value: reject Normality if p &lt; 0.05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5.3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Historical simulation VaR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305573"/>
            <a:ext cx="11094415" cy="606171"/>
          </a:xfrm>
          <a:prstGeom prst="roundRect">
            <a:avLst>
              <a:gd name="adj" fmla="val 1206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305573"/>
            <a:ext cx="1920240" cy="6061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Definition of VaR at level c</a:t>
            </a:r>
            <a:endParaRPr lang="en-US" sz="1200" dirty="0"/>
          </a:p>
        </p:txBody>
      </p:sp>
      <p:pic>
        <p:nvPicPr>
          <p:cNvPr id="7" name="Formula 1" descr="Formula: Definition of VaR at level 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488" y="1413205"/>
            <a:ext cx="3246120" cy="390906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1975752"/>
            <a:ext cx="11094415" cy="694563"/>
          </a:xfrm>
          <a:prstGeom prst="roundRect">
            <a:avLst>
              <a:gd name="adj" fmla="val 1053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1975752"/>
            <a:ext cx="1920240" cy="694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Empirical quantile</a:t>
            </a:r>
            <a:endParaRPr lang="en-US" sz="1200" dirty="0"/>
          </a:p>
        </p:txBody>
      </p:sp>
      <p:pic>
        <p:nvPicPr>
          <p:cNvPr id="10" name="Formula 2" descr="Formula: Empirical quanti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2793" y="2080717"/>
            <a:ext cx="5223510" cy="484632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2734323"/>
            <a:ext cx="11094415" cy="656996"/>
          </a:xfrm>
          <a:prstGeom prst="roundRect">
            <a:avLst>
              <a:gd name="adj" fmla="val 1113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2734323"/>
            <a:ext cx="1920240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Order statistic</a:t>
            </a:r>
            <a:endParaRPr lang="en-US" sz="1200" dirty="0"/>
          </a:p>
        </p:txBody>
      </p:sp>
      <p:pic>
        <p:nvPicPr>
          <p:cNvPr id="13" name="Formula 3" descr="Formula: Order statisti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8628" y="2837650"/>
            <a:ext cx="3291840" cy="450342"/>
          </a:xfrm>
          <a:prstGeom prst="rect">
            <a:avLst/>
          </a:prstGeom>
        </p:spPr>
      </p:pic>
      <p:sp>
        <p:nvSpPr>
          <p:cNvPr id="14" name="Formula card 4"/>
          <p:cNvSpPr/>
          <p:nvPr/>
        </p:nvSpPr>
        <p:spPr>
          <a:xfrm>
            <a:off x="548640" y="3455327"/>
            <a:ext cx="11094415" cy="626059"/>
          </a:xfrm>
          <a:prstGeom prst="roundRect">
            <a:avLst>
              <a:gd name="adj" fmla="val 1168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Formula label 4"/>
          <p:cNvSpPr txBox="1"/>
          <p:nvPr/>
        </p:nvSpPr>
        <p:spPr>
          <a:xfrm>
            <a:off x="777240" y="3455327"/>
            <a:ext cx="1920240" cy="626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Loss VaR (sign reversed)</a:t>
            </a:r>
            <a:endParaRPr lang="en-US" sz="1200" dirty="0"/>
          </a:p>
        </p:txBody>
      </p:sp>
      <p:pic>
        <p:nvPicPr>
          <p:cNvPr id="16" name="Formula 4" descr="Formula: Loss VaR (sign rever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2651" y="3561474"/>
            <a:ext cx="2923794" cy="413766"/>
          </a:xfrm>
          <a:prstGeom prst="rect">
            <a:avLst/>
          </a:prstGeom>
        </p:spPr>
      </p:pic>
      <p:sp>
        <p:nvSpPr>
          <p:cNvPr id="17" name="Parameter panel"/>
          <p:cNvSpPr/>
          <p:nvPr/>
        </p:nvSpPr>
        <p:spPr>
          <a:xfrm>
            <a:off x="548640" y="4243959"/>
            <a:ext cx="11094415" cy="2111121"/>
          </a:xfrm>
          <a:prstGeom prst="roundRect">
            <a:avLst>
              <a:gd name="adj" fmla="val 4331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Panel title"/>
          <p:cNvSpPr txBox="1"/>
          <p:nvPr/>
        </p:nvSpPr>
        <p:spPr>
          <a:xfrm>
            <a:off x="749808" y="4353687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9" name="Symbol chip 1"/>
          <p:cNvSpPr/>
          <p:nvPr/>
        </p:nvSpPr>
        <p:spPr>
          <a:xfrm>
            <a:off x="749808" y="4674299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1" descr="Symbol: 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0717" y="4718304"/>
            <a:ext cx="121158" cy="221742"/>
          </a:xfrm>
          <a:prstGeom prst="rect">
            <a:avLst/>
          </a:prstGeom>
        </p:spPr>
      </p:pic>
      <p:sp>
        <p:nvSpPr>
          <p:cNvPr id="21" name="Meaning 1"/>
          <p:cNvSpPr txBox="1"/>
          <p:nvPr/>
        </p:nvSpPr>
        <p:spPr>
          <a:xfrm>
            <a:off x="1820799" y="4628007"/>
            <a:ext cx="2310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 level (95% or 99%)</a:t>
            </a:r>
            <a:endParaRPr lang="en-US" sz="1100" dirty="0"/>
          </a:p>
        </p:txBody>
      </p:sp>
      <p:sp>
        <p:nvSpPr>
          <p:cNvPr id="22" name="Symbol chip 2"/>
          <p:cNvSpPr/>
          <p:nvPr/>
        </p:nvSpPr>
        <p:spPr>
          <a:xfrm>
            <a:off x="4405274" y="4674299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2" descr="Symbol: \tau=1-c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2145" y="4718304"/>
            <a:ext cx="729234" cy="221742"/>
          </a:xfrm>
          <a:prstGeom prst="rect">
            <a:avLst/>
          </a:prstGeom>
        </p:spPr>
      </p:pic>
      <p:sp>
        <p:nvSpPr>
          <p:cNvPr id="24" name="Meaning 2"/>
          <p:cNvSpPr txBox="1"/>
          <p:nvPr/>
        </p:nvSpPr>
        <p:spPr>
          <a:xfrm>
            <a:off x="5476265" y="4628007"/>
            <a:ext cx="2310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Probability in the adverse tail</a:t>
            </a:r>
            <a:endParaRPr lang="en-US" sz="1100" dirty="0"/>
          </a:p>
        </p:txBody>
      </p:sp>
      <p:sp>
        <p:nvSpPr>
          <p:cNvPr id="25" name="Symbol chip 3"/>
          <p:cNvSpPr/>
          <p:nvPr/>
        </p:nvSpPr>
        <p:spPr>
          <a:xfrm>
            <a:off x="8060741" y="4674299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3" descr="Symbol: L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1075" y="4718304"/>
            <a:ext cx="162306" cy="221742"/>
          </a:xfrm>
          <a:prstGeom prst="rect">
            <a:avLst/>
          </a:prstGeom>
        </p:spPr>
      </p:pic>
      <p:sp>
        <p:nvSpPr>
          <p:cNvPr id="27" name="Meaning 3"/>
          <p:cNvSpPr txBox="1"/>
          <p:nvPr/>
        </p:nvSpPr>
        <p:spPr>
          <a:xfrm>
            <a:off x="9131732" y="4628007"/>
            <a:ext cx="2310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Daily loss; positive when profit falls</a:t>
            </a:r>
            <a:endParaRPr lang="en-US" sz="1100" dirty="0"/>
          </a:p>
        </p:txBody>
      </p:sp>
      <p:sp>
        <p:nvSpPr>
          <p:cNvPr id="28" name="Symbol chip 4"/>
          <p:cNvSpPr/>
          <p:nvPr/>
        </p:nvSpPr>
        <p:spPr>
          <a:xfrm>
            <a:off x="749808" y="5085207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4" descr="Symbol: \mathrm{VaR}_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8980" y="5129212"/>
            <a:ext cx="484632" cy="221742"/>
          </a:xfrm>
          <a:prstGeom prst="rect">
            <a:avLst/>
          </a:prstGeom>
        </p:spPr>
      </p:pic>
      <p:sp>
        <p:nvSpPr>
          <p:cNvPr id="30" name="Meaning 4"/>
          <p:cNvSpPr txBox="1"/>
          <p:nvPr/>
        </p:nvSpPr>
        <p:spPr>
          <a:xfrm>
            <a:off x="1820799" y="5066919"/>
            <a:ext cx="2310155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threshold at confidence level c</a:t>
            </a:r>
            <a:endParaRPr lang="en-US" sz="1100" dirty="0"/>
          </a:p>
        </p:txBody>
      </p:sp>
      <p:sp>
        <p:nvSpPr>
          <p:cNvPr id="31" name="Symbol chip 5"/>
          <p:cNvSpPr/>
          <p:nvPr/>
        </p:nvSpPr>
        <p:spPr>
          <a:xfrm>
            <a:off x="4405274" y="5085207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5" descr="Symbol: 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5040" y="5129212"/>
            <a:ext cx="123444" cy="221742"/>
          </a:xfrm>
          <a:prstGeom prst="rect">
            <a:avLst/>
          </a:prstGeom>
        </p:spPr>
      </p:pic>
      <p:sp>
        <p:nvSpPr>
          <p:cNvPr id="33" name="Meaning 5"/>
          <p:cNvSpPr txBox="1"/>
          <p:nvPr/>
        </p:nvSpPr>
        <p:spPr>
          <a:xfrm>
            <a:off x="5476265" y="5066919"/>
            <a:ext cx="2310155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Risk factor: the daily profit changes</a:t>
            </a:r>
            <a:endParaRPr lang="en-US" sz="1100" dirty="0"/>
          </a:p>
        </p:txBody>
      </p:sp>
      <p:sp>
        <p:nvSpPr>
          <p:cNvPr id="34" name="Symbol chip 6"/>
          <p:cNvSpPr/>
          <p:nvPr/>
        </p:nvSpPr>
        <p:spPr>
          <a:xfrm>
            <a:off x="8060741" y="5085207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6" descr="Symbol: w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46503" y="5129212"/>
            <a:ext cx="171450" cy="221742"/>
          </a:xfrm>
          <a:prstGeom prst="rect">
            <a:avLst/>
          </a:prstGeom>
        </p:spPr>
      </p:pic>
      <p:sp>
        <p:nvSpPr>
          <p:cNvPr id="36" name="Meaning 6"/>
          <p:cNvSpPr txBox="1"/>
          <p:nvPr/>
        </p:nvSpPr>
        <p:spPr>
          <a:xfrm>
            <a:off x="9131732" y="5066919"/>
            <a:ext cx="2310155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Length of the observation window</a:t>
            </a:r>
            <a:endParaRPr lang="en-US" sz="1100" dirty="0"/>
          </a:p>
        </p:txBody>
      </p:sp>
      <p:sp>
        <p:nvSpPr>
          <p:cNvPr id="37" name="Symbol chip 7"/>
          <p:cNvSpPr/>
          <p:nvPr/>
        </p:nvSpPr>
        <p:spPr>
          <a:xfrm>
            <a:off x="749808" y="5468112"/>
            <a:ext cx="942975" cy="32004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7" descr="Symbol: Q(\tau)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0128" y="5510403"/>
            <a:ext cx="402336" cy="235458"/>
          </a:xfrm>
          <a:prstGeom prst="rect">
            <a:avLst/>
          </a:prstGeom>
        </p:spPr>
      </p:pic>
      <p:sp>
        <p:nvSpPr>
          <p:cNvPr id="39" name="Meaning 7"/>
          <p:cNvSpPr txBox="1"/>
          <p:nvPr/>
        </p:nvSpPr>
        <p:spPr>
          <a:xfrm>
            <a:off x="1820799" y="5449824"/>
            <a:ext cx="23101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Empirical quantile at probability τ</a:t>
            </a:r>
            <a:endParaRPr lang="en-US" sz="1100" dirty="0"/>
          </a:p>
        </p:txBody>
      </p:sp>
      <p:sp>
        <p:nvSpPr>
          <p:cNvPr id="40" name="Symbol chip 8"/>
          <p:cNvSpPr/>
          <p:nvPr/>
        </p:nvSpPr>
        <p:spPr>
          <a:xfrm>
            <a:off x="4405274" y="5473255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8" descr="Symbol: n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802467" y="5517261"/>
            <a:ext cx="148590" cy="221742"/>
          </a:xfrm>
          <a:prstGeom prst="rect">
            <a:avLst/>
          </a:prstGeom>
        </p:spPr>
      </p:pic>
      <p:sp>
        <p:nvSpPr>
          <p:cNvPr id="42" name="Meaning 8"/>
          <p:cNvSpPr txBox="1"/>
          <p:nvPr/>
        </p:nvSpPr>
        <p:spPr>
          <a:xfrm>
            <a:off x="5476265" y="5449824"/>
            <a:ext cx="23101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observations used</a:t>
            </a:r>
            <a:endParaRPr lang="en-US" sz="1100" dirty="0"/>
          </a:p>
        </p:txBody>
      </p:sp>
      <p:sp>
        <p:nvSpPr>
          <p:cNvPr id="43" name="Symbol chip 9"/>
          <p:cNvSpPr/>
          <p:nvPr/>
        </p:nvSpPr>
        <p:spPr>
          <a:xfrm>
            <a:off x="8060741" y="5469255"/>
            <a:ext cx="942975" cy="317754"/>
          </a:xfrm>
          <a:prstGeom prst="roundRect">
            <a:avLst>
              <a:gd name="adj" fmla="val 2014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4" name="Symbol 9" descr="Symbol: \lceil\cdot\rceil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4781" y="5510403"/>
            <a:ext cx="294894" cy="235458"/>
          </a:xfrm>
          <a:prstGeom prst="rect">
            <a:avLst/>
          </a:prstGeom>
        </p:spPr>
      </p:pic>
      <p:sp>
        <p:nvSpPr>
          <p:cNvPr id="45" name="Meaning 9"/>
          <p:cNvSpPr txBox="1"/>
          <p:nvPr/>
        </p:nvSpPr>
        <p:spPr>
          <a:xfrm>
            <a:off x="9131732" y="5449824"/>
            <a:ext cx="2310155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Ceiling: round up to the next integer</a:t>
            </a:r>
            <a:endParaRPr lang="en-US" sz="1100" dirty="0"/>
          </a:p>
        </p:txBody>
      </p:sp>
      <p:sp>
        <p:nvSpPr>
          <p:cNvPr id="46" name="Symbol chip 10"/>
          <p:cNvSpPr/>
          <p:nvPr/>
        </p:nvSpPr>
        <p:spPr>
          <a:xfrm>
            <a:off x="749808" y="5889307"/>
            <a:ext cx="942975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Symbol 10" descr="Symbol: x_{(k)}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991" y="5933313"/>
            <a:ext cx="308610" cy="221742"/>
          </a:xfrm>
          <a:prstGeom prst="rect">
            <a:avLst/>
          </a:prstGeom>
        </p:spPr>
      </p:pic>
      <p:sp>
        <p:nvSpPr>
          <p:cNvPr id="48" name="Meaning 10"/>
          <p:cNvSpPr txBox="1"/>
          <p:nvPr/>
        </p:nvSpPr>
        <p:spPr>
          <a:xfrm>
            <a:off x="1820799" y="5843016"/>
            <a:ext cx="23101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k-th smallest observation after sorting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5.3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Expected Shortfall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2389632"/>
            <a:ext cx="11094415" cy="1383792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2389632"/>
            <a:ext cx="1920240" cy="1383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Average loss beyond VaR</a:t>
            </a:r>
            <a:endParaRPr lang="en-US" sz="1200" dirty="0"/>
          </a:p>
        </p:txBody>
      </p:sp>
      <p:pic>
        <p:nvPicPr>
          <p:cNvPr id="7" name="Formula 1" descr="Formula: Average loss beyond Va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4560" y="2504313"/>
            <a:ext cx="4379976" cy="1154430"/>
          </a:xfrm>
          <a:prstGeom prst="rect">
            <a:avLst/>
          </a:prstGeom>
        </p:spPr>
      </p:pic>
      <p:sp>
        <p:nvSpPr>
          <p:cNvPr id="8" name="Parameter panel"/>
          <p:cNvSpPr/>
          <p:nvPr/>
        </p:nvSpPr>
        <p:spPr>
          <a:xfrm>
            <a:off x="548640" y="5020056"/>
            <a:ext cx="11094415" cy="1335024"/>
          </a:xfrm>
          <a:prstGeom prst="roundRect">
            <a:avLst>
              <a:gd name="adj" fmla="val 6849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Panel title"/>
          <p:cNvSpPr txBox="1"/>
          <p:nvPr/>
        </p:nvSpPr>
        <p:spPr>
          <a:xfrm>
            <a:off x="749808" y="5129784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0" name="Symbol chip 1"/>
          <p:cNvSpPr/>
          <p:nvPr/>
        </p:nvSpPr>
        <p:spPr>
          <a:xfrm>
            <a:off x="749808" y="5450395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Symbol 1" descr="Symbol: 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" y="5494401"/>
            <a:ext cx="121158" cy="221742"/>
          </a:xfrm>
          <a:prstGeom prst="rect">
            <a:avLst/>
          </a:prstGeom>
        </p:spPr>
      </p:pic>
      <p:sp>
        <p:nvSpPr>
          <p:cNvPr id="12" name="Meaning 1"/>
          <p:cNvSpPr txBox="1"/>
          <p:nvPr/>
        </p:nvSpPr>
        <p:spPr>
          <a:xfrm>
            <a:off x="1575054" y="5404104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 level of the VaR threshold</a:t>
            </a:r>
            <a:endParaRPr lang="en-US" sz="1100" dirty="0"/>
          </a:p>
        </p:txBody>
      </p:sp>
      <p:sp>
        <p:nvSpPr>
          <p:cNvPr id="13" name="Symbol chip 2"/>
          <p:cNvSpPr/>
          <p:nvPr/>
        </p:nvSpPr>
        <p:spPr>
          <a:xfrm>
            <a:off x="4405274" y="5450395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2" descr="Symbol: \mathrm{ES}_c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582" y="5494401"/>
            <a:ext cx="340614" cy="221742"/>
          </a:xfrm>
          <a:prstGeom prst="rect">
            <a:avLst/>
          </a:prstGeom>
        </p:spPr>
      </p:pic>
      <p:sp>
        <p:nvSpPr>
          <p:cNvPr id="15" name="Meaning 2"/>
          <p:cNvSpPr txBox="1"/>
          <p:nvPr/>
        </p:nvSpPr>
        <p:spPr>
          <a:xfrm>
            <a:off x="5230520" y="5404104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Average loss at or beyond the VaR threshold</a:t>
            </a:r>
            <a:endParaRPr lang="en-US" sz="1100" dirty="0"/>
          </a:p>
        </p:txBody>
      </p:sp>
      <p:sp>
        <p:nvSpPr>
          <p:cNvPr id="16" name="Symbol chip 3"/>
          <p:cNvSpPr/>
          <p:nvPr/>
        </p:nvSpPr>
        <p:spPr>
          <a:xfrm>
            <a:off x="8060741" y="5450395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3" descr="Symbol: \mathrm{VaR}_c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040" y="5494401"/>
            <a:ext cx="484632" cy="221742"/>
          </a:xfrm>
          <a:prstGeom prst="rect">
            <a:avLst/>
          </a:prstGeom>
        </p:spPr>
      </p:pic>
      <p:sp>
        <p:nvSpPr>
          <p:cNvPr id="18" name="Meaning 3"/>
          <p:cNvSpPr txBox="1"/>
          <p:nvPr/>
        </p:nvSpPr>
        <p:spPr>
          <a:xfrm>
            <a:off x="8885987" y="5404104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threshold at confidence level c</a:t>
            </a:r>
            <a:endParaRPr lang="en-US" sz="1100" dirty="0"/>
          </a:p>
        </p:txBody>
      </p:sp>
      <p:sp>
        <p:nvSpPr>
          <p:cNvPr id="19" name="Symbol chip 4"/>
          <p:cNvSpPr/>
          <p:nvPr/>
        </p:nvSpPr>
        <p:spPr>
          <a:xfrm>
            <a:off x="749808" y="588930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4" descr="Symbol: N_c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693" y="5933313"/>
            <a:ext cx="251460" cy="221742"/>
          </a:xfrm>
          <a:prstGeom prst="rect">
            <a:avLst/>
          </a:prstGeom>
        </p:spPr>
      </p:pic>
      <p:sp>
        <p:nvSpPr>
          <p:cNvPr id="21" name="Meaning 4"/>
          <p:cNvSpPr txBox="1"/>
          <p:nvPr/>
        </p:nvSpPr>
        <p:spPr>
          <a:xfrm>
            <a:off x="1575054" y="5843016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days with a loss of at least VaR</a:t>
            </a:r>
            <a:endParaRPr lang="en-US" sz="1100" dirty="0"/>
          </a:p>
        </p:txBody>
      </p:sp>
      <p:sp>
        <p:nvSpPr>
          <p:cNvPr id="22" name="Symbol chip 5"/>
          <p:cNvSpPr/>
          <p:nvPr/>
        </p:nvSpPr>
        <p:spPr>
          <a:xfrm>
            <a:off x="4405274" y="588930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5" descr="Symbol: L_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9876" y="5933313"/>
            <a:ext cx="208026" cy="221742"/>
          </a:xfrm>
          <a:prstGeom prst="rect">
            <a:avLst/>
          </a:prstGeom>
        </p:spPr>
      </p:pic>
      <p:sp>
        <p:nvSpPr>
          <p:cNvPr id="24" name="Meaning 5"/>
          <p:cNvSpPr txBox="1"/>
          <p:nvPr/>
        </p:nvSpPr>
        <p:spPr>
          <a:xfrm>
            <a:off x="5230520" y="5843016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on observed day i</a:t>
            </a:r>
            <a:endParaRPr lang="en-US" sz="1100" dirty="0"/>
          </a:p>
        </p:txBody>
      </p:sp>
      <p:sp>
        <p:nvSpPr>
          <p:cNvPr id="25" name="Symbol chip 6"/>
          <p:cNvSpPr/>
          <p:nvPr/>
        </p:nvSpPr>
        <p:spPr>
          <a:xfrm>
            <a:off x="8060741" y="588930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6" descr="Symbol: 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1350" y="5933313"/>
            <a:ext cx="96012" cy="221742"/>
          </a:xfrm>
          <a:prstGeom prst="rect">
            <a:avLst/>
          </a:prstGeom>
        </p:spPr>
      </p:pic>
      <p:sp>
        <p:nvSpPr>
          <p:cNvPr id="27" name="Meaning 6"/>
          <p:cNvSpPr txBox="1"/>
          <p:nvPr/>
        </p:nvSpPr>
        <p:spPr>
          <a:xfrm>
            <a:off x="8885987" y="5843016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Index of the days included in the tail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5.4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Parametric (Normal) VaR and ES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434370"/>
            <a:ext cx="11094415" cy="826008"/>
          </a:xfrm>
          <a:prstGeom prst="roundRect">
            <a:avLst>
              <a:gd name="adj" fmla="val 885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434370"/>
            <a:ext cx="1920240" cy="826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Normal loss model</a:t>
            </a:r>
            <a:endParaRPr lang="en-US" sz="1200" dirty="0"/>
          </a:p>
        </p:txBody>
      </p:sp>
      <p:pic>
        <p:nvPicPr>
          <p:cNvPr id="7" name="Formula 1" descr="Formula: Normal loss mode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353" y="1543336"/>
            <a:ext cx="3120390" cy="608076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414588"/>
            <a:ext cx="11094415" cy="752856"/>
          </a:xfrm>
          <a:prstGeom prst="roundRect">
            <a:avLst>
              <a:gd name="adj" fmla="val 97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414588"/>
            <a:ext cx="1920240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Parametric VaR</a:t>
            </a:r>
            <a:endParaRPr lang="en-US" sz="1200" dirty="0"/>
          </a:p>
        </p:txBody>
      </p:sp>
      <p:pic>
        <p:nvPicPr>
          <p:cNvPr id="10" name="Formula 2" descr="Formula: Parametric Va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4298" y="2529269"/>
            <a:ext cx="4000500" cy="523494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3321653"/>
            <a:ext cx="11094415" cy="1024128"/>
          </a:xfrm>
          <a:prstGeom prst="roundRect">
            <a:avLst>
              <a:gd name="adj" fmla="val 714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3321653"/>
            <a:ext cx="1920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Parametric ES</a:t>
            </a:r>
            <a:endParaRPr lang="en-US" sz="1200" dirty="0"/>
          </a:p>
        </p:txBody>
      </p:sp>
      <p:pic>
        <p:nvPicPr>
          <p:cNvPr id="13" name="Formula 3" descr="Formula: Parametric E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356" y="3430238"/>
            <a:ext cx="7644384" cy="806958"/>
          </a:xfrm>
          <a:prstGeom prst="rect">
            <a:avLst/>
          </a:prstGeom>
        </p:spPr>
      </p:pic>
      <p:sp>
        <p:nvSpPr>
          <p:cNvPr id="14" name="Parameter panel"/>
          <p:cNvSpPr/>
          <p:nvPr/>
        </p:nvSpPr>
        <p:spPr>
          <a:xfrm>
            <a:off x="548640" y="4637151"/>
            <a:ext cx="11094415" cy="1717929"/>
          </a:xfrm>
          <a:prstGeom prst="roundRect">
            <a:avLst>
              <a:gd name="adj" fmla="val 532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Panel title"/>
          <p:cNvSpPr txBox="1"/>
          <p:nvPr/>
        </p:nvSpPr>
        <p:spPr>
          <a:xfrm>
            <a:off x="749808" y="4746879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6" name="Symbol chip 1"/>
          <p:cNvSpPr/>
          <p:nvPr/>
        </p:nvSpPr>
        <p:spPr>
          <a:xfrm>
            <a:off x="749808" y="503948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1" descr="Symbol: 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270" y="5083492"/>
            <a:ext cx="162306" cy="221742"/>
          </a:xfrm>
          <a:prstGeom prst="rect">
            <a:avLst/>
          </a:prstGeom>
        </p:spPr>
      </p:pic>
      <p:sp>
        <p:nvSpPr>
          <p:cNvPr id="18" name="Meaning 1"/>
          <p:cNvSpPr txBox="1"/>
          <p:nvPr/>
        </p:nvSpPr>
        <p:spPr>
          <a:xfrm>
            <a:off x="1575054" y="5021199"/>
            <a:ext cx="255590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Daily loss, assumed Normal</a:t>
            </a:r>
            <a:endParaRPr lang="en-US" sz="1100" dirty="0"/>
          </a:p>
        </p:txBody>
      </p:sp>
      <p:sp>
        <p:nvSpPr>
          <p:cNvPr id="19" name="Symbol chip 2"/>
          <p:cNvSpPr/>
          <p:nvPr/>
        </p:nvSpPr>
        <p:spPr>
          <a:xfrm>
            <a:off x="4405274" y="503948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2" descr="Symbol: \mu_L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3874" y="5083492"/>
            <a:ext cx="240030" cy="221742"/>
          </a:xfrm>
          <a:prstGeom prst="rect">
            <a:avLst/>
          </a:prstGeom>
        </p:spPr>
      </p:pic>
      <p:sp>
        <p:nvSpPr>
          <p:cNvPr id="21" name="Meaning 2"/>
          <p:cNvSpPr txBox="1"/>
          <p:nvPr/>
        </p:nvSpPr>
        <p:spPr>
          <a:xfrm>
            <a:off x="5230520" y="5021199"/>
            <a:ext cx="255590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Mean of the daily losses</a:t>
            </a:r>
            <a:endParaRPr lang="en-US" sz="1100" dirty="0"/>
          </a:p>
        </p:txBody>
      </p:sp>
      <p:sp>
        <p:nvSpPr>
          <p:cNvPr id="22" name="Symbol chip 3"/>
          <p:cNvSpPr/>
          <p:nvPr/>
        </p:nvSpPr>
        <p:spPr>
          <a:xfrm>
            <a:off x="8060741" y="503948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3" descr="Symbol: \sigma_L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1627" y="5083492"/>
            <a:ext cx="235458" cy="221742"/>
          </a:xfrm>
          <a:prstGeom prst="rect">
            <a:avLst/>
          </a:prstGeom>
        </p:spPr>
      </p:pic>
      <p:sp>
        <p:nvSpPr>
          <p:cNvPr id="24" name="Meaning 3"/>
          <p:cNvSpPr txBox="1"/>
          <p:nvPr/>
        </p:nvSpPr>
        <p:spPr>
          <a:xfrm>
            <a:off x="8885987" y="5021199"/>
            <a:ext cx="255590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Standard deviation of the daily losses</a:t>
            </a:r>
            <a:endParaRPr lang="en-US" sz="1100" dirty="0"/>
          </a:p>
        </p:txBody>
      </p:sp>
      <p:sp>
        <p:nvSpPr>
          <p:cNvPr id="25" name="Symbol chip 4"/>
          <p:cNvSpPr/>
          <p:nvPr/>
        </p:nvSpPr>
        <p:spPr>
          <a:xfrm>
            <a:off x="749808" y="5450395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4" descr="Symbol: c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7844" y="5494401"/>
            <a:ext cx="121158" cy="221742"/>
          </a:xfrm>
          <a:prstGeom prst="rect">
            <a:avLst/>
          </a:prstGeom>
        </p:spPr>
      </p:pic>
      <p:sp>
        <p:nvSpPr>
          <p:cNvPr id="27" name="Meaning 4"/>
          <p:cNvSpPr txBox="1"/>
          <p:nvPr/>
        </p:nvSpPr>
        <p:spPr>
          <a:xfrm>
            <a:off x="1575054" y="5404104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 level</a:t>
            </a:r>
            <a:endParaRPr lang="en-US" sz="1100" dirty="0"/>
          </a:p>
        </p:txBody>
      </p:sp>
      <p:sp>
        <p:nvSpPr>
          <p:cNvPr id="28" name="Symbol chip 5"/>
          <p:cNvSpPr/>
          <p:nvPr/>
        </p:nvSpPr>
        <p:spPr>
          <a:xfrm>
            <a:off x="4405274" y="5450395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5" descr="Symbol: z_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1306" y="5494401"/>
            <a:ext cx="185166" cy="221742"/>
          </a:xfrm>
          <a:prstGeom prst="rect">
            <a:avLst/>
          </a:prstGeom>
        </p:spPr>
      </p:pic>
      <p:sp>
        <p:nvSpPr>
          <p:cNvPr id="30" name="Meaning 5"/>
          <p:cNvSpPr txBox="1"/>
          <p:nvPr/>
        </p:nvSpPr>
        <p:spPr>
          <a:xfrm>
            <a:off x="5230520" y="5404104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Standard Normal quantile at probability c</a:t>
            </a:r>
            <a:endParaRPr lang="en-US" sz="1100" dirty="0"/>
          </a:p>
        </p:txBody>
      </p:sp>
      <p:sp>
        <p:nvSpPr>
          <p:cNvPr id="31" name="Symbol chip 6"/>
          <p:cNvSpPr/>
          <p:nvPr/>
        </p:nvSpPr>
        <p:spPr>
          <a:xfrm>
            <a:off x="8060741" y="5450395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6" descr="Symbol: \Phi^{-1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36763" y="5494401"/>
            <a:ext cx="345186" cy="221742"/>
          </a:xfrm>
          <a:prstGeom prst="rect">
            <a:avLst/>
          </a:prstGeom>
        </p:spPr>
      </p:pic>
      <p:sp>
        <p:nvSpPr>
          <p:cNvPr id="33" name="Meaning 6"/>
          <p:cNvSpPr txBox="1"/>
          <p:nvPr/>
        </p:nvSpPr>
        <p:spPr>
          <a:xfrm>
            <a:off x="8885987" y="5404104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Inverse standard Normal distribution function</a:t>
            </a:r>
            <a:endParaRPr lang="en-US" sz="1100" dirty="0"/>
          </a:p>
        </p:txBody>
      </p:sp>
      <p:sp>
        <p:nvSpPr>
          <p:cNvPr id="34" name="Symbol chip 7"/>
          <p:cNvSpPr/>
          <p:nvPr/>
        </p:nvSpPr>
        <p:spPr>
          <a:xfrm>
            <a:off x="749808" y="588930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7" descr="Symbol: \ph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4128" y="5933313"/>
            <a:ext cx="148590" cy="221742"/>
          </a:xfrm>
          <a:prstGeom prst="rect">
            <a:avLst/>
          </a:prstGeom>
        </p:spPr>
      </p:pic>
      <p:sp>
        <p:nvSpPr>
          <p:cNvPr id="36" name="Meaning 7"/>
          <p:cNvSpPr txBox="1"/>
          <p:nvPr/>
        </p:nvSpPr>
        <p:spPr>
          <a:xfrm>
            <a:off x="1575054" y="5843016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Standard Normal density function</a:t>
            </a:r>
            <a:endParaRPr lang="en-US" sz="1100" dirty="0"/>
          </a:p>
        </p:txBody>
      </p:sp>
      <p:sp>
        <p:nvSpPr>
          <p:cNvPr id="37" name="Symbol chip 8"/>
          <p:cNvSpPr/>
          <p:nvPr/>
        </p:nvSpPr>
        <p:spPr>
          <a:xfrm>
            <a:off x="4405274" y="588930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8" descr="Symbol: \mathrm{VaR}_c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11573" y="5933313"/>
            <a:ext cx="484632" cy="221742"/>
          </a:xfrm>
          <a:prstGeom prst="rect">
            <a:avLst/>
          </a:prstGeom>
        </p:spPr>
      </p:pic>
      <p:sp>
        <p:nvSpPr>
          <p:cNvPr id="39" name="Meaning 8"/>
          <p:cNvSpPr txBox="1"/>
          <p:nvPr/>
        </p:nvSpPr>
        <p:spPr>
          <a:xfrm>
            <a:off x="5230520" y="5843016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threshold at level c</a:t>
            </a:r>
            <a:endParaRPr lang="en-US" sz="1100" dirty="0"/>
          </a:p>
        </p:txBody>
      </p:sp>
      <p:sp>
        <p:nvSpPr>
          <p:cNvPr id="40" name="Symbol chip 9"/>
          <p:cNvSpPr/>
          <p:nvPr/>
        </p:nvSpPr>
        <p:spPr>
          <a:xfrm>
            <a:off x="8060741" y="5889307"/>
            <a:ext cx="69723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9" descr="Symbol: \mathrm{ES}_c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39049" y="5933313"/>
            <a:ext cx="340614" cy="221742"/>
          </a:xfrm>
          <a:prstGeom prst="rect">
            <a:avLst/>
          </a:prstGeom>
        </p:spPr>
      </p:pic>
      <p:sp>
        <p:nvSpPr>
          <p:cNvPr id="42" name="Meaning 9"/>
          <p:cNvSpPr txBox="1"/>
          <p:nvPr/>
        </p:nvSpPr>
        <p:spPr>
          <a:xfrm>
            <a:off x="8885987" y="5843016"/>
            <a:ext cx="25559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Mean loss beyond VaR under the Normal model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5.5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Monte Carlo: ordering and VaR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516952"/>
            <a:ext cx="11094415" cy="798576"/>
          </a:xfrm>
          <a:prstGeom prst="roundRect">
            <a:avLst>
              <a:gd name="adj" fmla="val 916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516952"/>
            <a:ext cx="1920240" cy="798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Simulated losses, ordered</a:t>
            </a:r>
            <a:endParaRPr lang="en-US" sz="1200" dirty="0"/>
          </a:p>
        </p:txBody>
      </p:sp>
      <p:pic>
        <p:nvPicPr>
          <p:cNvPr id="7" name="Formula 1" descr="Formula: Simulated losses, order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101" y="1627061"/>
            <a:ext cx="4866894" cy="578358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552319"/>
            <a:ext cx="11094415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552319"/>
            <a:ext cx="1920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VaR position</a:t>
            </a:r>
            <a:endParaRPr lang="en-US" sz="1200" dirty="0"/>
          </a:p>
        </p:txBody>
      </p:sp>
      <p:pic>
        <p:nvPicPr>
          <p:cNvPr id="10" name="Formula 2" descr="Formula: VaR positi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365" y="2665476"/>
            <a:ext cx="7500366" cy="669798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3685222"/>
            <a:ext cx="11094415" cy="94488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3685222"/>
            <a:ext cx="1920240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Monte Carlo VaR</a:t>
            </a:r>
            <a:endParaRPr lang="en-US" sz="1200" dirty="0"/>
          </a:p>
        </p:txBody>
      </p:sp>
      <p:pic>
        <p:nvPicPr>
          <p:cNvPr id="13" name="Formula 3" descr="Formula: Monte Carlo Va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193" y="3796474"/>
            <a:ext cx="3394710" cy="722376"/>
          </a:xfrm>
          <a:prstGeom prst="rect">
            <a:avLst/>
          </a:prstGeom>
        </p:spPr>
      </p:pic>
      <p:sp>
        <p:nvSpPr>
          <p:cNvPr id="14" name="Parameter panel"/>
          <p:cNvSpPr/>
          <p:nvPr/>
        </p:nvSpPr>
        <p:spPr>
          <a:xfrm>
            <a:off x="548640" y="5004054"/>
            <a:ext cx="11094415" cy="1351026"/>
          </a:xfrm>
          <a:prstGeom prst="roundRect">
            <a:avLst>
              <a:gd name="adj" fmla="val 6768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Panel title"/>
          <p:cNvSpPr txBox="1"/>
          <p:nvPr/>
        </p:nvSpPr>
        <p:spPr>
          <a:xfrm>
            <a:off x="749808" y="511378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6" name="Symbol chip 1"/>
          <p:cNvSpPr/>
          <p:nvPr/>
        </p:nvSpPr>
        <p:spPr>
          <a:xfrm>
            <a:off x="749808" y="5434393"/>
            <a:ext cx="9806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1" descr="Symbol: L^{(i)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706" y="5478399"/>
            <a:ext cx="326898" cy="221742"/>
          </a:xfrm>
          <a:prstGeom prst="rect">
            <a:avLst/>
          </a:prstGeom>
        </p:spPr>
      </p:pic>
      <p:sp>
        <p:nvSpPr>
          <p:cNvPr id="18" name="Meaning 1"/>
          <p:cNvSpPr txBox="1"/>
          <p:nvPr/>
        </p:nvSpPr>
        <p:spPr>
          <a:xfrm>
            <a:off x="1858518" y="5388102"/>
            <a:ext cx="2272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i-th simulated loss, sorted from largest to smallest</a:t>
            </a:r>
            <a:endParaRPr lang="en-US" sz="1100" dirty="0"/>
          </a:p>
        </p:txBody>
      </p:sp>
      <p:sp>
        <p:nvSpPr>
          <p:cNvPr id="19" name="Symbol chip 2"/>
          <p:cNvSpPr/>
          <p:nvPr/>
        </p:nvSpPr>
        <p:spPr>
          <a:xfrm>
            <a:off x="4405274" y="5434393"/>
            <a:ext cx="9806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2" descr="Symbol: 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1326" y="5478399"/>
            <a:ext cx="148590" cy="221742"/>
          </a:xfrm>
          <a:prstGeom prst="rect">
            <a:avLst/>
          </a:prstGeom>
        </p:spPr>
      </p:pic>
      <p:sp>
        <p:nvSpPr>
          <p:cNvPr id="21" name="Meaning 2"/>
          <p:cNvSpPr txBox="1"/>
          <p:nvPr/>
        </p:nvSpPr>
        <p:spPr>
          <a:xfrm>
            <a:off x="5513984" y="5388102"/>
            <a:ext cx="2272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simulated scenarios (100,000)</a:t>
            </a:r>
            <a:endParaRPr lang="en-US" sz="1100" dirty="0"/>
          </a:p>
        </p:txBody>
      </p:sp>
      <p:sp>
        <p:nvSpPr>
          <p:cNvPr id="22" name="Symbol chip 3"/>
          <p:cNvSpPr/>
          <p:nvPr/>
        </p:nvSpPr>
        <p:spPr>
          <a:xfrm>
            <a:off x="8060741" y="5434393"/>
            <a:ext cx="9806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3" descr="Symbol: \alpha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3364" y="5478399"/>
            <a:ext cx="155448" cy="221742"/>
          </a:xfrm>
          <a:prstGeom prst="rect">
            <a:avLst/>
          </a:prstGeom>
        </p:spPr>
      </p:pic>
      <p:sp>
        <p:nvSpPr>
          <p:cNvPr id="24" name="Meaning 3"/>
          <p:cNvSpPr txBox="1"/>
          <p:nvPr/>
        </p:nvSpPr>
        <p:spPr>
          <a:xfrm>
            <a:off x="9169451" y="5388102"/>
            <a:ext cx="22724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 level; 1−α is the tail probability</a:t>
            </a:r>
            <a:endParaRPr lang="en-US" sz="1100" dirty="0"/>
          </a:p>
        </p:txBody>
      </p:sp>
      <p:sp>
        <p:nvSpPr>
          <p:cNvPr id="25" name="Symbol chip 4"/>
          <p:cNvSpPr/>
          <p:nvPr/>
        </p:nvSpPr>
        <p:spPr>
          <a:xfrm>
            <a:off x="749808" y="5881306"/>
            <a:ext cx="9806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4" descr="Symbol: 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2149" y="5925312"/>
            <a:ext cx="96012" cy="221742"/>
          </a:xfrm>
          <a:prstGeom prst="rect">
            <a:avLst/>
          </a:prstGeom>
        </p:spPr>
      </p:pic>
      <p:sp>
        <p:nvSpPr>
          <p:cNvPr id="27" name="Meaning 4"/>
          <p:cNvSpPr txBox="1"/>
          <p:nvPr/>
        </p:nvSpPr>
        <p:spPr>
          <a:xfrm>
            <a:off x="1858518" y="5827014"/>
            <a:ext cx="2272436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Position in the ordered list</a:t>
            </a:r>
            <a:endParaRPr lang="en-US" sz="1100" dirty="0"/>
          </a:p>
        </p:txBody>
      </p:sp>
      <p:sp>
        <p:nvSpPr>
          <p:cNvPr id="28" name="Symbol chip 5"/>
          <p:cNvSpPr/>
          <p:nvPr/>
        </p:nvSpPr>
        <p:spPr>
          <a:xfrm>
            <a:off x="4405274" y="5881306"/>
            <a:ext cx="98069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5" descr="Symbol: j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6185" y="5925312"/>
            <a:ext cx="118872" cy="221742"/>
          </a:xfrm>
          <a:prstGeom prst="rect">
            <a:avLst/>
          </a:prstGeom>
        </p:spPr>
      </p:pic>
      <p:sp>
        <p:nvSpPr>
          <p:cNvPr id="30" name="Meaning 5"/>
          <p:cNvSpPr txBox="1"/>
          <p:nvPr/>
        </p:nvSpPr>
        <p:spPr>
          <a:xfrm>
            <a:off x="5513984" y="5827014"/>
            <a:ext cx="2272436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First ordered position that crosses the tail boundary</a:t>
            </a:r>
            <a:endParaRPr lang="en-US" sz="1100" dirty="0"/>
          </a:p>
        </p:txBody>
      </p:sp>
      <p:sp>
        <p:nvSpPr>
          <p:cNvPr id="31" name="Symbol chip 6"/>
          <p:cNvSpPr/>
          <p:nvPr/>
        </p:nvSpPr>
        <p:spPr>
          <a:xfrm>
            <a:off x="8060741" y="5845302"/>
            <a:ext cx="980694" cy="381762"/>
          </a:xfrm>
          <a:prstGeom prst="roundRect">
            <a:avLst>
              <a:gd name="adj" fmla="val 1676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6" descr="Symbol: \widehat{\mathrm{VaR}}_{\alpha}(n)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7040" y="5887593"/>
            <a:ext cx="768096" cy="297180"/>
          </a:xfrm>
          <a:prstGeom prst="rect">
            <a:avLst/>
          </a:prstGeom>
        </p:spPr>
      </p:pic>
      <p:sp>
        <p:nvSpPr>
          <p:cNvPr id="33" name="Meaning 6"/>
          <p:cNvSpPr txBox="1"/>
          <p:nvPr/>
        </p:nvSpPr>
        <p:spPr>
          <a:xfrm>
            <a:off x="9169451" y="5827014"/>
            <a:ext cx="2272436" cy="4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threshold estimated from the simulation</a:t>
            </a:r>
            <a:endParaRPr lang="en-US" sz="11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5.5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Monte Carlo: Expected Shortfall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415669"/>
            <a:ext cx="11094415" cy="752856"/>
          </a:xfrm>
          <a:prstGeom prst="roundRect">
            <a:avLst>
              <a:gd name="adj" fmla="val 971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415669"/>
            <a:ext cx="1920240" cy="752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Loss of a simulated profit change</a:t>
            </a:r>
            <a:endParaRPr lang="en-US" sz="1200" dirty="0"/>
          </a:p>
        </p:txBody>
      </p:sp>
      <p:pic>
        <p:nvPicPr>
          <p:cNvPr id="7" name="Formula 1" descr="Formula: Loss of a simulated profit chan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161" y="1530350"/>
            <a:ext cx="1620774" cy="523494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304034"/>
            <a:ext cx="11094415" cy="1987296"/>
          </a:xfrm>
          <a:prstGeom prst="roundRect">
            <a:avLst>
              <a:gd name="adj" fmla="val 368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368042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Monte Carlo ES</a:t>
            </a:r>
            <a:endParaRPr lang="en-US" sz="1200" dirty="0"/>
          </a:p>
        </p:txBody>
      </p:sp>
      <p:pic>
        <p:nvPicPr>
          <p:cNvPr id="10" name="Formula 2" descr="Formula: Monte Carlo 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421" y="2651506"/>
            <a:ext cx="9118854" cy="1501902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4563999"/>
            <a:ext cx="11094415" cy="1791081"/>
          </a:xfrm>
          <a:prstGeom prst="roundRect">
            <a:avLst>
              <a:gd name="adj" fmla="val 5105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4673727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4994910"/>
            <a:ext cx="10492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x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4722" y="5038915"/>
            <a:ext cx="139446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927098" y="4948047"/>
            <a:ext cx="2203856" cy="403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Simulated profit change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4994910"/>
            <a:ext cx="10492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758" y="5038915"/>
            <a:ext cx="162306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582564" y="4948047"/>
            <a:ext cx="2203856" cy="403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Loss of the scenario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4966335"/>
            <a:ext cx="1049274" cy="366903"/>
          </a:xfrm>
          <a:prstGeom prst="roundRect">
            <a:avLst>
              <a:gd name="adj" fmla="val 1744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\widehat{\mathrm{ES}}_{\alpha}(n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3339" y="5009197"/>
            <a:ext cx="624078" cy="281178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9238031" y="4948047"/>
            <a:ext cx="2203856" cy="4034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Estimated average loss in the tail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406390"/>
            <a:ext cx="10492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L^{(i)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996" y="5450395"/>
            <a:ext cx="326898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927098" y="5388102"/>
            <a:ext cx="220385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i-th simulated loss after sorting</a:t>
            </a:r>
            <a:endParaRPr lang="en-US" sz="1100" dirty="0"/>
          </a:p>
        </p:txBody>
      </p:sp>
      <p:sp>
        <p:nvSpPr>
          <p:cNvPr id="25" name="Symbol chip 5"/>
          <p:cNvSpPr/>
          <p:nvPr/>
        </p:nvSpPr>
        <p:spPr>
          <a:xfrm>
            <a:off x="4405274" y="5406390"/>
            <a:ext cx="10492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5" descr="Symbol: 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5616" y="5450395"/>
            <a:ext cx="148590" cy="221742"/>
          </a:xfrm>
          <a:prstGeom prst="rect">
            <a:avLst/>
          </a:prstGeom>
        </p:spPr>
      </p:pic>
      <p:sp>
        <p:nvSpPr>
          <p:cNvPr id="27" name="Meaning 5"/>
          <p:cNvSpPr txBox="1"/>
          <p:nvPr/>
        </p:nvSpPr>
        <p:spPr>
          <a:xfrm>
            <a:off x="5582564" y="5388102"/>
            <a:ext cx="220385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simulated scenarios</a:t>
            </a:r>
            <a:endParaRPr lang="en-US" sz="1100" dirty="0"/>
          </a:p>
        </p:txBody>
      </p:sp>
      <p:sp>
        <p:nvSpPr>
          <p:cNvPr id="28" name="Symbol chip 6"/>
          <p:cNvSpPr/>
          <p:nvPr/>
        </p:nvSpPr>
        <p:spPr>
          <a:xfrm>
            <a:off x="8060741" y="5406390"/>
            <a:ext cx="10492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6" descr="Symbol: \alpha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07654" y="5450395"/>
            <a:ext cx="155448" cy="221742"/>
          </a:xfrm>
          <a:prstGeom prst="rect">
            <a:avLst/>
          </a:prstGeom>
        </p:spPr>
      </p:pic>
      <p:sp>
        <p:nvSpPr>
          <p:cNvPr id="30" name="Meaning 6"/>
          <p:cNvSpPr txBox="1"/>
          <p:nvPr/>
        </p:nvSpPr>
        <p:spPr>
          <a:xfrm>
            <a:off x="9238031" y="5388102"/>
            <a:ext cx="220385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Confidence level</a:t>
            </a:r>
            <a:endParaRPr lang="en-US" sz="1100" dirty="0"/>
          </a:p>
        </p:txBody>
      </p:sp>
      <p:sp>
        <p:nvSpPr>
          <p:cNvPr id="31" name="Symbol chip 7"/>
          <p:cNvSpPr/>
          <p:nvPr/>
        </p:nvSpPr>
        <p:spPr>
          <a:xfrm>
            <a:off x="749808" y="5853303"/>
            <a:ext cx="10492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7" descr="Symbol: j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5009" y="5897308"/>
            <a:ext cx="118872" cy="221742"/>
          </a:xfrm>
          <a:prstGeom prst="rect">
            <a:avLst/>
          </a:prstGeom>
        </p:spPr>
      </p:pic>
      <p:sp>
        <p:nvSpPr>
          <p:cNvPr id="33" name="Meaning 7"/>
          <p:cNvSpPr txBox="1"/>
          <p:nvPr/>
        </p:nvSpPr>
        <p:spPr>
          <a:xfrm>
            <a:off x="1927098" y="5771007"/>
            <a:ext cx="2203856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First position crossing the tail boundary</a:t>
            </a:r>
            <a:endParaRPr lang="en-US" sz="1100" dirty="0"/>
          </a:p>
        </p:txBody>
      </p:sp>
      <p:sp>
        <p:nvSpPr>
          <p:cNvPr id="34" name="Symbol chip 8"/>
          <p:cNvSpPr/>
          <p:nvPr/>
        </p:nvSpPr>
        <p:spPr>
          <a:xfrm>
            <a:off x="4405274" y="5789295"/>
            <a:ext cx="1049274" cy="437769"/>
          </a:xfrm>
          <a:prstGeom prst="roundRect">
            <a:avLst>
              <a:gd name="adj" fmla="val 146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8" descr="Symbol: 1-\frac{j-1}{(1-\alpha)n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11573" y="5832157"/>
            <a:ext cx="836676" cy="352044"/>
          </a:xfrm>
          <a:prstGeom prst="rect">
            <a:avLst/>
          </a:prstGeom>
        </p:spPr>
      </p:pic>
      <p:sp>
        <p:nvSpPr>
          <p:cNvPr id="36" name="Meaning 8"/>
          <p:cNvSpPr txBox="1"/>
          <p:nvPr/>
        </p:nvSpPr>
        <p:spPr>
          <a:xfrm>
            <a:off x="5582564" y="5771007"/>
            <a:ext cx="2203856" cy="474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Weight of the j-th loss; zero if (1−α)n is an integer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5.6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Stress testing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376705"/>
            <a:ext cx="11094415" cy="527914"/>
          </a:xfrm>
          <a:prstGeom prst="roundRect">
            <a:avLst>
              <a:gd name="adj" fmla="val 13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376705"/>
            <a:ext cx="1920240" cy="52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Stressed sales</a:t>
            </a:r>
            <a:endParaRPr lang="en-US" sz="1200" dirty="0"/>
          </a:p>
        </p:txBody>
      </p:sp>
      <p:pic>
        <p:nvPicPr>
          <p:cNvPr id="7" name="Formula 1" descr="Formula: Stressed sa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908" y="1477213"/>
            <a:ext cx="5669280" cy="326898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001164"/>
            <a:ext cx="11094415" cy="527914"/>
          </a:xfrm>
          <a:prstGeom prst="roundRect">
            <a:avLst>
              <a:gd name="adj" fmla="val 1385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001164"/>
            <a:ext cx="1920240" cy="527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Stressed cost</a:t>
            </a:r>
            <a:endParaRPr lang="en-US" sz="1200" dirty="0"/>
          </a:p>
        </p:txBody>
      </p:sp>
      <p:pic>
        <p:nvPicPr>
          <p:cNvPr id="10" name="Formula 2" descr="Formula: Stressed co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631" y="2101672"/>
            <a:ext cx="5529834" cy="326898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2625623"/>
            <a:ext cx="11094415" cy="512826"/>
          </a:xfrm>
          <a:prstGeom prst="roundRect">
            <a:avLst>
              <a:gd name="adj" fmla="val 142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2625623"/>
            <a:ext cx="1920240" cy="512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Stressed profit</a:t>
            </a:r>
            <a:endParaRPr lang="en-US" sz="1200" dirty="0"/>
          </a:p>
        </p:txBody>
      </p:sp>
      <p:pic>
        <p:nvPicPr>
          <p:cNvPr id="13" name="Formula 3" descr="Formula: Stressed prof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5191" y="2730017"/>
            <a:ext cx="7998714" cy="304038"/>
          </a:xfrm>
          <a:prstGeom prst="rect">
            <a:avLst/>
          </a:prstGeom>
        </p:spPr>
      </p:pic>
      <p:sp>
        <p:nvSpPr>
          <p:cNvPr id="14" name="Formula card 4"/>
          <p:cNvSpPr/>
          <p:nvPr/>
        </p:nvSpPr>
        <p:spPr>
          <a:xfrm>
            <a:off x="548640" y="3234995"/>
            <a:ext cx="11094415" cy="512826"/>
          </a:xfrm>
          <a:prstGeom prst="roundRect">
            <a:avLst>
              <a:gd name="adj" fmla="val 142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Formula label 4"/>
          <p:cNvSpPr txBox="1"/>
          <p:nvPr/>
        </p:nvSpPr>
        <p:spPr>
          <a:xfrm>
            <a:off x="777240" y="3234995"/>
            <a:ext cx="1920240" cy="5128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Profit change</a:t>
            </a:r>
            <a:endParaRPr lang="en-US" sz="1200" dirty="0"/>
          </a:p>
        </p:txBody>
      </p:sp>
      <p:pic>
        <p:nvPicPr>
          <p:cNvPr id="16" name="Formula 4" descr="Formula: Profit chan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632" y="3339389"/>
            <a:ext cx="5513832" cy="304038"/>
          </a:xfrm>
          <a:prstGeom prst="rect">
            <a:avLst/>
          </a:prstGeom>
        </p:spPr>
      </p:pic>
      <p:sp>
        <p:nvSpPr>
          <p:cNvPr id="17" name="Formula card 5"/>
          <p:cNvSpPr/>
          <p:nvPr/>
        </p:nvSpPr>
        <p:spPr>
          <a:xfrm>
            <a:off x="548640" y="3844366"/>
            <a:ext cx="11094415" cy="615086"/>
          </a:xfrm>
          <a:prstGeom prst="roundRect">
            <a:avLst>
              <a:gd name="adj" fmla="val 1189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Formula label 5"/>
          <p:cNvSpPr txBox="1"/>
          <p:nvPr/>
        </p:nvSpPr>
        <p:spPr>
          <a:xfrm>
            <a:off x="777240" y="3844366"/>
            <a:ext cx="1920240" cy="6150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Profit change in %</a:t>
            </a:r>
            <a:endParaRPr lang="en-US" sz="1200" dirty="0"/>
          </a:p>
        </p:txBody>
      </p:sp>
      <p:pic>
        <p:nvPicPr>
          <p:cNvPr id="19" name="Formula 5" descr="Formula: Profit change in %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9329" y="3942740"/>
            <a:ext cx="5790438" cy="418338"/>
          </a:xfrm>
          <a:prstGeom prst="rect">
            <a:avLst/>
          </a:prstGeom>
        </p:spPr>
      </p:pic>
      <p:sp>
        <p:nvSpPr>
          <p:cNvPr id="20" name="Parameter panel"/>
          <p:cNvSpPr/>
          <p:nvPr/>
        </p:nvSpPr>
        <p:spPr>
          <a:xfrm>
            <a:off x="548640" y="4693158"/>
            <a:ext cx="11094415" cy="1661922"/>
          </a:xfrm>
          <a:prstGeom prst="roundRect">
            <a:avLst>
              <a:gd name="adj" fmla="val 550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1" name="Panel title"/>
          <p:cNvSpPr txBox="1"/>
          <p:nvPr/>
        </p:nvSpPr>
        <p:spPr>
          <a:xfrm>
            <a:off x="749808" y="480288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22" name="Symbol chip 1"/>
          <p:cNvSpPr/>
          <p:nvPr/>
        </p:nvSpPr>
        <p:spPr>
          <a:xfrm>
            <a:off x="749808" y="5095494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1" descr="Symbol: \mathrm{Base\ Sales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8992" y="5139500"/>
            <a:ext cx="891540" cy="221742"/>
          </a:xfrm>
          <a:prstGeom prst="rect">
            <a:avLst/>
          </a:prstGeom>
        </p:spPr>
      </p:pic>
      <p:sp>
        <p:nvSpPr>
          <p:cNvPr id="24" name="Meaning 1"/>
          <p:cNvSpPr txBox="1"/>
          <p:nvPr/>
        </p:nvSpPr>
        <p:spPr>
          <a:xfrm>
            <a:off x="2427732" y="5077206"/>
            <a:ext cx="1703222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Observed annual sales</a:t>
            </a:r>
            <a:endParaRPr lang="en-US" sz="1100" dirty="0"/>
          </a:p>
        </p:txBody>
      </p:sp>
      <p:sp>
        <p:nvSpPr>
          <p:cNvPr id="25" name="Symbol chip 2"/>
          <p:cNvSpPr/>
          <p:nvPr/>
        </p:nvSpPr>
        <p:spPr>
          <a:xfrm>
            <a:off x="4405274" y="5095494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2" descr="Symbol: \mathrm{Base\ Cos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603" y="5139500"/>
            <a:ext cx="857250" cy="221742"/>
          </a:xfrm>
          <a:prstGeom prst="rect">
            <a:avLst/>
          </a:prstGeom>
        </p:spPr>
      </p:pic>
      <p:sp>
        <p:nvSpPr>
          <p:cNvPr id="27" name="Meaning 2"/>
          <p:cNvSpPr txBox="1"/>
          <p:nvPr/>
        </p:nvSpPr>
        <p:spPr>
          <a:xfrm>
            <a:off x="6083198" y="5077206"/>
            <a:ext cx="1703222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Observed annual cost</a:t>
            </a:r>
            <a:endParaRPr lang="en-US" sz="1100" dirty="0"/>
          </a:p>
        </p:txBody>
      </p:sp>
      <p:sp>
        <p:nvSpPr>
          <p:cNvPr id="28" name="Symbol chip 3"/>
          <p:cNvSpPr/>
          <p:nvPr/>
        </p:nvSpPr>
        <p:spPr>
          <a:xfrm>
            <a:off x="8060741" y="5095494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3" descr="Symbol: \mathrm{Base\ Profit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55635" y="5139500"/>
            <a:ext cx="960120" cy="221742"/>
          </a:xfrm>
          <a:prstGeom prst="rect">
            <a:avLst/>
          </a:prstGeom>
        </p:spPr>
      </p:pic>
      <p:sp>
        <p:nvSpPr>
          <p:cNvPr id="30" name="Meaning 3"/>
          <p:cNvSpPr txBox="1"/>
          <p:nvPr/>
        </p:nvSpPr>
        <p:spPr>
          <a:xfrm>
            <a:off x="9738665" y="5077206"/>
            <a:ext cx="1703222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Observed annual profit</a:t>
            </a:r>
            <a:endParaRPr lang="en-US" sz="1100" dirty="0"/>
          </a:p>
        </p:txBody>
      </p:sp>
      <p:sp>
        <p:nvSpPr>
          <p:cNvPr id="31" name="Symbol chip 4"/>
          <p:cNvSpPr/>
          <p:nvPr/>
        </p:nvSpPr>
        <p:spPr>
          <a:xfrm>
            <a:off x="749808" y="5506403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4" descr="Symbol: \mathrm{Sales\ Shock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5271" y="5550408"/>
            <a:ext cx="998982" cy="221742"/>
          </a:xfrm>
          <a:prstGeom prst="rect">
            <a:avLst/>
          </a:prstGeom>
        </p:spPr>
      </p:pic>
      <p:sp>
        <p:nvSpPr>
          <p:cNvPr id="33" name="Meaning 4"/>
          <p:cNvSpPr txBox="1"/>
          <p:nvPr/>
        </p:nvSpPr>
        <p:spPr>
          <a:xfrm>
            <a:off x="2427732" y="5460111"/>
            <a:ext cx="17032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Change in sales (−0.10 = 10% fall)</a:t>
            </a:r>
            <a:endParaRPr lang="en-US" sz="1100" dirty="0"/>
          </a:p>
        </p:txBody>
      </p:sp>
      <p:sp>
        <p:nvSpPr>
          <p:cNvPr id="34" name="Symbol chip 5"/>
          <p:cNvSpPr/>
          <p:nvPr/>
        </p:nvSpPr>
        <p:spPr>
          <a:xfrm>
            <a:off x="4405274" y="5506403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5" descr="Symbol: \mathrm{Cost\ Shock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96739" y="5550408"/>
            <a:ext cx="966978" cy="221742"/>
          </a:xfrm>
          <a:prstGeom prst="rect">
            <a:avLst/>
          </a:prstGeom>
        </p:spPr>
      </p:pic>
      <p:sp>
        <p:nvSpPr>
          <p:cNvPr id="36" name="Meaning 5"/>
          <p:cNvSpPr txBox="1"/>
          <p:nvPr/>
        </p:nvSpPr>
        <p:spPr>
          <a:xfrm>
            <a:off x="6083198" y="5460111"/>
            <a:ext cx="17032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Change in cost (0.10 = 10% rise)</a:t>
            </a:r>
            <a:endParaRPr lang="en-US" sz="1100" dirty="0"/>
          </a:p>
        </p:txBody>
      </p:sp>
      <p:sp>
        <p:nvSpPr>
          <p:cNvPr id="37" name="Symbol chip 6"/>
          <p:cNvSpPr/>
          <p:nvPr/>
        </p:nvSpPr>
        <p:spPr>
          <a:xfrm>
            <a:off x="8060741" y="5506403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6" descr="Symbol: \mathrm{Other\ Expenses}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67040" y="5550408"/>
            <a:ext cx="1337310" cy="221742"/>
          </a:xfrm>
          <a:prstGeom prst="rect">
            <a:avLst/>
          </a:prstGeom>
        </p:spPr>
      </p:pic>
      <p:sp>
        <p:nvSpPr>
          <p:cNvPr id="39" name="Meaning 6"/>
          <p:cNvSpPr txBox="1"/>
          <p:nvPr/>
        </p:nvSpPr>
        <p:spPr>
          <a:xfrm>
            <a:off x="9738665" y="5460111"/>
            <a:ext cx="170322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Costs not in the data; set to zero</a:t>
            </a:r>
            <a:endParaRPr lang="en-US" sz="1100" dirty="0"/>
          </a:p>
        </p:txBody>
      </p:sp>
      <p:sp>
        <p:nvSpPr>
          <p:cNvPr id="40" name="Symbol chip 7"/>
          <p:cNvSpPr/>
          <p:nvPr/>
        </p:nvSpPr>
        <p:spPr>
          <a:xfrm>
            <a:off x="749808" y="5917311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7" descr="Symbol: \mathrm{Stressed\ Sales}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3831" y="5961316"/>
            <a:ext cx="1181862" cy="221742"/>
          </a:xfrm>
          <a:prstGeom prst="rect">
            <a:avLst/>
          </a:prstGeom>
        </p:spPr>
      </p:pic>
      <p:sp>
        <p:nvSpPr>
          <p:cNvPr id="42" name="Meaning 7"/>
          <p:cNvSpPr txBox="1"/>
          <p:nvPr/>
        </p:nvSpPr>
        <p:spPr>
          <a:xfrm>
            <a:off x="2427732" y="5899023"/>
            <a:ext cx="1703222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Sales after the sales shock</a:t>
            </a:r>
            <a:endParaRPr lang="en-US" sz="1100" dirty="0"/>
          </a:p>
        </p:txBody>
      </p:sp>
      <p:sp>
        <p:nvSpPr>
          <p:cNvPr id="43" name="Symbol chip 8"/>
          <p:cNvSpPr/>
          <p:nvPr/>
        </p:nvSpPr>
        <p:spPr>
          <a:xfrm>
            <a:off x="4405274" y="5917311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4" name="Symbol 8" descr="Symbol: \mathrm{Stressed\ Cost}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07585" y="5961316"/>
            <a:ext cx="1145286" cy="221742"/>
          </a:xfrm>
          <a:prstGeom prst="rect">
            <a:avLst/>
          </a:prstGeom>
        </p:spPr>
      </p:pic>
      <p:sp>
        <p:nvSpPr>
          <p:cNvPr id="45" name="Meaning 8"/>
          <p:cNvSpPr txBox="1"/>
          <p:nvPr/>
        </p:nvSpPr>
        <p:spPr>
          <a:xfrm>
            <a:off x="6083198" y="5899023"/>
            <a:ext cx="1703222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Cost after the cost shock</a:t>
            </a:r>
            <a:endParaRPr lang="en-US" sz="1100" dirty="0"/>
          </a:p>
        </p:txBody>
      </p:sp>
      <p:sp>
        <p:nvSpPr>
          <p:cNvPr id="46" name="Symbol chip 9"/>
          <p:cNvSpPr/>
          <p:nvPr/>
        </p:nvSpPr>
        <p:spPr>
          <a:xfrm>
            <a:off x="8060741" y="5917311"/>
            <a:ext cx="1549908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7" name="Symbol 9" descr="Symbol: \mathrm{Stressed\ Profit}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1617" y="5961316"/>
            <a:ext cx="1248156" cy="221742"/>
          </a:xfrm>
          <a:prstGeom prst="rect">
            <a:avLst/>
          </a:prstGeom>
        </p:spPr>
      </p:pic>
      <p:sp>
        <p:nvSpPr>
          <p:cNvPr id="48" name="Meaning 9"/>
          <p:cNvSpPr txBox="1"/>
          <p:nvPr/>
        </p:nvSpPr>
        <p:spPr>
          <a:xfrm>
            <a:off x="9738665" y="5899023"/>
            <a:ext cx="1703222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Profit under the scenario</a:t>
            </a:r>
            <a:endParaRPr lang="en-US" sz="1100" dirty="0"/>
          </a:p>
        </p:txBody>
      </p:sp>
      <p:sp>
        <p:nvSpPr>
          <p:cNvPr id="4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5.6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Stress rule of thumb and break-even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2183244"/>
            <a:ext cx="11094415" cy="848868"/>
          </a:xfrm>
          <a:prstGeom prst="roundRect">
            <a:avLst>
              <a:gd name="adj" fmla="val 861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2247252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Rule of thumb</a:t>
            </a:r>
            <a:endParaRPr lang="en-US" sz="1200" dirty="0"/>
          </a:p>
        </p:txBody>
      </p:sp>
      <p:pic>
        <p:nvPicPr>
          <p:cNvPr id="7" name="Formula 1" descr="Formula: Rule of thum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64" y="2530716"/>
            <a:ext cx="10488168" cy="384048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3306432"/>
            <a:ext cx="11094415" cy="729386"/>
          </a:xfrm>
          <a:prstGeom prst="roundRect">
            <a:avLst>
              <a:gd name="adj" fmla="val 1002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3306432"/>
            <a:ext cx="1920240" cy="72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Sales decline that cancels all profit</a:t>
            </a:r>
            <a:endParaRPr lang="en-US" sz="1200" dirty="0"/>
          </a:p>
        </p:txBody>
      </p:sp>
      <p:pic>
        <p:nvPicPr>
          <p:cNvPr id="10" name="Formula 2" descr="Formula: Sales decline that cancels all prof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410" y="3410522"/>
            <a:ext cx="4494276" cy="521208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5076063"/>
            <a:ext cx="11094415" cy="1279017"/>
          </a:xfrm>
          <a:prstGeom prst="roundRect">
            <a:avLst>
              <a:gd name="adj" fmla="val 7149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518579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478399"/>
            <a:ext cx="1359027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\mathrm{Base\ Sales}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552" y="5522405"/>
            <a:ext cx="891540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2236851" y="5460111"/>
            <a:ext cx="1894103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Observed annual sales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478399"/>
            <a:ext cx="1359027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\mathrm{Sales\ Shock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5297" y="5522405"/>
            <a:ext cx="998982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892317" y="5460111"/>
            <a:ext cx="1894103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Scenario change in sales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478399"/>
            <a:ext cx="1359027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\mathrm{Base\ Cost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1629" y="5522405"/>
            <a:ext cx="857250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9547784" y="5460111"/>
            <a:ext cx="1894103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Observed annual cost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889308"/>
            <a:ext cx="1359027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\mathrm{Cost\ Shock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5832" y="5933313"/>
            <a:ext cx="966978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2236851" y="5843016"/>
            <a:ext cx="18941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Scenario change in cost</a:t>
            </a:r>
            <a:endParaRPr lang="en-US" sz="1100" dirty="0"/>
          </a:p>
        </p:txBody>
      </p:sp>
      <p:sp>
        <p:nvSpPr>
          <p:cNvPr id="25" name="Symbol chip 5"/>
          <p:cNvSpPr/>
          <p:nvPr/>
        </p:nvSpPr>
        <p:spPr>
          <a:xfrm>
            <a:off x="4405274" y="5889308"/>
            <a:ext cx="1359027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5" descr="Symbol: \mathrm{Stressed\ Cost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12145" y="5933313"/>
            <a:ext cx="1145286" cy="221742"/>
          </a:xfrm>
          <a:prstGeom prst="rect">
            <a:avLst/>
          </a:prstGeom>
        </p:spPr>
      </p:pic>
      <p:sp>
        <p:nvSpPr>
          <p:cNvPr id="27" name="Meaning 5"/>
          <p:cNvSpPr txBox="1"/>
          <p:nvPr/>
        </p:nvSpPr>
        <p:spPr>
          <a:xfrm>
            <a:off x="5892317" y="5843016"/>
            <a:ext cx="18941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Cost after the cost shock</a:t>
            </a:r>
            <a:endParaRPr lang="en-US" sz="1100" dirty="0"/>
          </a:p>
        </p:txBody>
      </p:sp>
      <p:sp>
        <p:nvSpPr>
          <p:cNvPr id="28" name="Symbol chip 6"/>
          <p:cNvSpPr/>
          <p:nvPr/>
        </p:nvSpPr>
        <p:spPr>
          <a:xfrm>
            <a:off x="8060741" y="5889308"/>
            <a:ext cx="1359027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6" descr="Symbol: \mathrm{Sales\ Decline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83613" y="5933313"/>
            <a:ext cx="1113282" cy="221742"/>
          </a:xfrm>
          <a:prstGeom prst="rect">
            <a:avLst/>
          </a:prstGeom>
        </p:spPr>
      </p:pic>
      <p:sp>
        <p:nvSpPr>
          <p:cNvPr id="30" name="Meaning 6"/>
          <p:cNvSpPr txBox="1"/>
          <p:nvPr/>
        </p:nvSpPr>
        <p:spPr>
          <a:xfrm>
            <a:off x="9547784" y="5843016"/>
            <a:ext cx="1894103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Fall in sales that wipes out all profit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5.7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Concentration risk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732331"/>
            <a:ext cx="5478628" cy="899617"/>
          </a:xfrm>
          <a:prstGeom prst="roundRect">
            <a:avLst>
              <a:gd name="adj" fmla="val 81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31520" y="1787195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Revenue share</a:t>
            </a:r>
            <a:endParaRPr lang="en-US" sz="1200" dirty="0"/>
          </a:p>
        </p:txBody>
      </p:sp>
      <p:pic>
        <p:nvPicPr>
          <p:cNvPr id="7" name="Formula 1" descr="Formula: Revenue sha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8126" y="2115845"/>
            <a:ext cx="1819656" cy="443484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6164428" y="1732331"/>
            <a:ext cx="5478628" cy="899617"/>
          </a:xfrm>
          <a:prstGeom prst="roundRect">
            <a:avLst>
              <a:gd name="adj" fmla="val 813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6347308" y="1787195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Largest share</a:t>
            </a:r>
            <a:endParaRPr lang="en-US" sz="1200" dirty="0"/>
          </a:p>
        </p:txBody>
      </p:sp>
      <p:pic>
        <p:nvPicPr>
          <p:cNvPr id="10" name="Formula 2" descr="Formula: Largest sha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711" y="2180996"/>
            <a:ext cx="5052060" cy="313182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2723388"/>
            <a:ext cx="5478628" cy="1268425"/>
          </a:xfrm>
          <a:prstGeom prst="roundRect">
            <a:avLst>
              <a:gd name="adj" fmla="val 57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31520" y="2778252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Top 5 share</a:t>
            </a:r>
            <a:endParaRPr lang="en-US" sz="1200" dirty="0"/>
          </a:p>
        </p:txBody>
      </p:sp>
      <p:pic>
        <p:nvPicPr>
          <p:cNvPr id="13" name="Formula 3" descr="Formula: Top 5 sha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6304" y="3104998"/>
            <a:ext cx="3543300" cy="816102"/>
          </a:xfrm>
          <a:prstGeom prst="rect">
            <a:avLst/>
          </a:prstGeom>
        </p:spPr>
      </p:pic>
      <p:sp>
        <p:nvSpPr>
          <p:cNvPr id="14" name="Formula card 4"/>
          <p:cNvSpPr/>
          <p:nvPr/>
        </p:nvSpPr>
        <p:spPr>
          <a:xfrm>
            <a:off x="6164428" y="2723388"/>
            <a:ext cx="5478628" cy="1268425"/>
          </a:xfrm>
          <a:prstGeom prst="roundRect">
            <a:avLst>
              <a:gd name="adj" fmla="val 576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Formula label 4"/>
          <p:cNvSpPr txBox="1"/>
          <p:nvPr/>
        </p:nvSpPr>
        <p:spPr>
          <a:xfrm>
            <a:off x="6347308" y="2778252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Herfindahl-Hirschman Index</a:t>
            </a:r>
            <a:endParaRPr lang="en-US" sz="1200" dirty="0"/>
          </a:p>
        </p:txBody>
      </p:sp>
      <p:pic>
        <p:nvPicPr>
          <p:cNvPr id="16" name="Formula 4" descr="Formula: Herfindahl-Hirschman Index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1602" y="3129001"/>
            <a:ext cx="2224278" cy="768096"/>
          </a:xfrm>
          <a:prstGeom prst="rect">
            <a:avLst/>
          </a:prstGeom>
        </p:spPr>
      </p:pic>
      <p:sp>
        <p:nvSpPr>
          <p:cNvPr id="17" name="Parameter panel"/>
          <p:cNvSpPr/>
          <p:nvPr/>
        </p:nvSpPr>
        <p:spPr>
          <a:xfrm>
            <a:off x="548640" y="4581144"/>
            <a:ext cx="11094415" cy="1773936"/>
          </a:xfrm>
          <a:prstGeom prst="roundRect">
            <a:avLst>
              <a:gd name="adj" fmla="val 5155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Panel title"/>
          <p:cNvSpPr txBox="1"/>
          <p:nvPr/>
        </p:nvSpPr>
        <p:spPr>
          <a:xfrm>
            <a:off x="749808" y="469087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9" name="Symbol chip 1"/>
          <p:cNvSpPr/>
          <p:nvPr/>
        </p:nvSpPr>
        <p:spPr>
          <a:xfrm>
            <a:off x="749808" y="5011483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1" descr="Symbol: 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8743" y="5055489"/>
            <a:ext cx="148590" cy="221742"/>
          </a:xfrm>
          <a:prstGeom prst="rect">
            <a:avLst/>
          </a:prstGeom>
        </p:spPr>
      </p:pic>
      <p:sp>
        <p:nvSpPr>
          <p:cNvPr id="21" name="Meaning 1"/>
          <p:cNvSpPr txBox="1"/>
          <p:nvPr/>
        </p:nvSpPr>
        <p:spPr>
          <a:xfrm>
            <a:off x="2264283" y="4965192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entities (stores or categories)</a:t>
            </a:r>
            <a:endParaRPr lang="en-US" sz="1100" dirty="0"/>
          </a:p>
        </p:txBody>
      </p:sp>
      <p:sp>
        <p:nvSpPr>
          <p:cNvPr id="22" name="Symbol chip 2"/>
          <p:cNvSpPr/>
          <p:nvPr/>
        </p:nvSpPr>
        <p:spPr>
          <a:xfrm>
            <a:off x="4405274" y="5011483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2" descr="Symbol: i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0498" y="5055489"/>
            <a:ext cx="96012" cy="221742"/>
          </a:xfrm>
          <a:prstGeom prst="rect">
            <a:avLst/>
          </a:prstGeom>
        </p:spPr>
      </p:pic>
      <p:sp>
        <p:nvSpPr>
          <p:cNvPr id="24" name="Meaning 2"/>
          <p:cNvSpPr txBox="1"/>
          <p:nvPr/>
        </p:nvSpPr>
        <p:spPr>
          <a:xfrm>
            <a:off x="5919749" y="4965192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Index identifying one entity</a:t>
            </a:r>
            <a:endParaRPr lang="en-US" sz="1100" dirty="0"/>
          </a:p>
        </p:txBody>
      </p:sp>
      <p:sp>
        <p:nvSpPr>
          <p:cNvPr id="25" name="Symbol chip 3"/>
          <p:cNvSpPr/>
          <p:nvPr/>
        </p:nvSpPr>
        <p:spPr>
          <a:xfrm>
            <a:off x="8060741" y="5011483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3" descr="Symbol: \mathrm{Revenue}_i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349" y="5055489"/>
            <a:ext cx="793242" cy="221742"/>
          </a:xfrm>
          <a:prstGeom prst="rect">
            <a:avLst/>
          </a:prstGeom>
        </p:spPr>
      </p:pic>
      <p:sp>
        <p:nvSpPr>
          <p:cNvPr id="27" name="Meaning 3"/>
          <p:cNvSpPr txBox="1"/>
          <p:nvPr/>
        </p:nvSpPr>
        <p:spPr>
          <a:xfrm>
            <a:off x="9575216" y="4965192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Revenue of entity i</a:t>
            </a:r>
            <a:endParaRPr lang="en-US" sz="1100" dirty="0"/>
          </a:p>
        </p:txBody>
      </p:sp>
      <p:sp>
        <p:nvSpPr>
          <p:cNvPr id="28" name="Symbol chip 4"/>
          <p:cNvSpPr/>
          <p:nvPr/>
        </p:nvSpPr>
        <p:spPr>
          <a:xfrm>
            <a:off x="749808" y="5450395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4" descr="Symbol: s_i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8456" y="5494401"/>
            <a:ext cx="169164" cy="221742"/>
          </a:xfrm>
          <a:prstGeom prst="rect">
            <a:avLst/>
          </a:prstGeom>
        </p:spPr>
      </p:pic>
      <p:sp>
        <p:nvSpPr>
          <p:cNvPr id="30" name="Meaning 4"/>
          <p:cNvSpPr txBox="1"/>
          <p:nvPr/>
        </p:nvSpPr>
        <p:spPr>
          <a:xfrm>
            <a:off x="2264283" y="5404104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Share of total revenue of entity i (0 to 1)</a:t>
            </a:r>
            <a:endParaRPr lang="en-US" sz="1100" dirty="0"/>
          </a:p>
        </p:txBody>
      </p:sp>
      <p:sp>
        <p:nvSpPr>
          <p:cNvPr id="31" name="Symbol chip 5"/>
          <p:cNvSpPr/>
          <p:nvPr/>
        </p:nvSpPr>
        <p:spPr>
          <a:xfrm>
            <a:off x="4405274" y="5450395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5" descr="Symbol: s_{(i)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65916" y="5494401"/>
            <a:ext cx="265176" cy="221742"/>
          </a:xfrm>
          <a:prstGeom prst="rect">
            <a:avLst/>
          </a:prstGeom>
        </p:spPr>
      </p:pic>
      <p:sp>
        <p:nvSpPr>
          <p:cNvPr id="33" name="Meaning 5"/>
          <p:cNvSpPr txBox="1"/>
          <p:nvPr/>
        </p:nvSpPr>
        <p:spPr>
          <a:xfrm>
            <a:off x="5919749" y="5404104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Shares ordered from largest to smallest</a:t>
            </a:r>
            <a:endParaRPr lang="en-US" sz="1100" dirty="0"/>
          </a:p>
        </p:txBody>
      </p:sp>
      <p:sp>
        <p:nvSpPr>
          <p:cNvPr id="34" name="Symbol chip 6"/>
          <p:cNvSpPr/>
          <p:nvPr/>
        </p:nvSpPr>
        <p:spPr>
          <a:xfrm>
            <a:off x="8060741" y="5450395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6" descr="Symbol: \mathrm{Largest\ Share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67611" y="5494401"/>
            <a:ext cx="1172718" cy="221742"/>
          </a:xfrm>
          <a:prstGeom prst="rect">
            <a:avLst/>
          </a:prstGeom>
        </p:spPr>
      </p:pic>
      <p:sp>
        <p:nvSpPr>
          <p:cNvPr id="36" name="Meaning 6"/>
          <p:cNvSpPr txBox="1"/>
          <p:nvPr/>
        </p:nvSpPr>
        <p:spPr>
          <a:xfrm>
            <a:off x="9575216" y="5404104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Largest entity share, in %</a:t>
            </a:r>
            <a:endParaRPr lang="en-US" sz="1100" dirty="0"/>
          </a:p>
        </p:txBody>
      </p:sp>
      <p:sp>
        <p:nvSpPr>
          <p:cNvPr id="37" name="Symbol chip 7"/>
          <p:cNvSpPr/>
          <p:nvPr/>
        </p:nvSpPr>
        <p:spPr>
          <a:xfrm>
            <a:off x="749808" y="5889307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7" descr="Symbol: \mathrm{Top\ 5\ Share}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0687" y="5933313"/>
            <a:ext cx="1044702" cy="221742"/>
          </a:xfrm>
          <a:prstGeom prst="rect">
            <a:avLst/>
          </a:prstGeom>
        </p:spPr>
      </p:pic>
      <p:sp>
        <p:nvSpPr>
          <p:cNvPr id="39" name="Meaning 7"/>
          <p:cNvSpPr txBox="1"/>
          <p:nvPr/>
        </p:nvSpPr>
        <p:spPr>
          <a:xfrm>
            <a:off x="2264283" y="5843016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Sum of the five largest shares, in %</a:t>
            </a:r>
            <a:endParaRPr lang="en-US" sz="1100" dirty="0"/>
          </a:p>
        </p:txBody>
      </p:sp>
      <p:sp>
        <p:nvSpPr>
          <p:cNvPr id="40" name="Symbol chip 8"/>
          <p:cNvSpPr/>
          <p:nvPr/>
        </p:nvSpPr>
        <p:spPr>
          <a:xfrm>
            <a:off x="4405274" y="5889307"/>
            <a:ext cx="138645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8" descr="Symbol: \mathrm{HHI}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04194" y="5933313"/>
            <a:ext cx="388620" cy="221742"/>
          </a:xfrm>
          <a:prstGeom prst="rect">
            <a:avLst/>
          </a:prstGeom>
        </p:spPr>
      </p:pic>
      <p:sp>
        <p:nvSpPr>
          <p:cNvPr id="42" name="Meaning 8"/>
          <p:cNvSpPr txBox="1"/>
          <p:nvPr/>
        </p:nvSpPr>
        <p:spPr>
          <a:xfrm>
            <a:off x="5919749" y="5843016"/>
            <a:ext cx="186667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Sum of squared shares times 10,000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5.7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HHI floor and normalised HHI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984820"/>
            <a:ext cx="11094415" cy="832104"/>
          </a:xfrm>
          <a:prstGeom prst="roundRect">
            <a:avLst>
              <a:gd name="adj" fmla="val 8791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984820"/>
            <a:ext cx="192024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Minimum HHI for n equal entities</a:t>
            </a:r>
            <a:endParaRPr lang="en-US" sz="1200" dirty="0"/>
          </a:p>
        </p:txBody>
      </p:sp>
      <p:pic>
        <p:nvPicPr>
          <p:cNvPr id="7" name="Formula 1" descr="Formula: Minimum HHI for n equal entit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926" y="2093405"/>
            <a:ext cx="3095244" cy="614934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3091244"/>
            <a:ext cx="11094415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3091244"/>
            <a:ext cx="1920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Normalised HHI</a:t>
            </a:r>
            <a:endParaRPr lang="en-US" sz="1200" dirty="0"/>
          </a:p>
        </p:txBody>
      </p:sp>
      <p:pic>
        <p:nvPicPr>
          <p:cNvPr id="10" name="Formula 2" descr="Formula: Normalised HH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3085" y="3204401"/>
            <a:ext cx="5122926" cy="916686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5076063"/>
            <a:ext cx="11094415" cy="1279017"/>
          </a:xfrm>
          <a:prstGeom prst="roundRect">
            <a:avLst>
              <a:gd name="adj" fmla="val 7149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5185791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506403"/>
            <a:ext cx="91782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4428" y="5550408"/>
            <a:ext cx="148590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795653" y="5460111"/>
            <a:ext cx="23353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entities compared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506403"/>
            <a:ext cx="91782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\mathrm{HHI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9879" y="5550408"/>
            <a:ext cx="388620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451119" y="5460111"/>
            <a:ext cx="23353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Observed index, from near 0 to 10,000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506403"/>
            <a:ext cx="91782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\mathrm{HHI}_{\min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8759" y="5550408"/>
            <a:ext cx="621792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9106586" y="5460111"/>
            <a:ext cx="233530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Lowest possible HHI with n equal entities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917311"/>
            <a:ext cx="917829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\mathrm{HHI}_{\mathrm{norm}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6679" y="5961316"/>
            <a:ext cx="704088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795653" y="5899023"/>
            <a:ext cx="2335301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HHI rescaled to the range 0 to 1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5.8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Average discount and margin rates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465834"/>
            <a:ext cx="11094415" cy="1578864"/>
          </a:xfrm>
          <a:prstGeom prst="roundRect">
            <a:avLst>
              <a:gd name="adj" fmla="val 46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465834"/>
            <a:ext cx="1920240" cy="157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Average discount rate</a:t>
            </a:r>
            <a:endParaRPr lang="en-US" sz="1200" dirty="0"/>
          </a:p>
        </p:txBody>
      </p:sp>
      <p:pic>
        <p:nvPicPr>
          <p:cNvPr id="7" name="Formula 1" descr="Formula: Average discount ra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5818" y="1579753"/>
            <a:ext cx="2537460" cy="1351026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3230372"/>
            <a:ext cx="11094415" cy="1578864"/>
          </a:xfrm>
          <a:prstGeom prst="roundRect">
            <a:avLst>
              <a:gd name="adj" fmla="val 4633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3230372"/>
            <a:ext cx="1920240" cy="1578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Average margin rate</a:t>
            </a:r>
            <a:endParaRPr lang="en-US" sz="1200" dirty="0"/>
          </a:p>
        </p:txBody>
      </p:sp>
      <p:pic>
        <p:nvPicPr>
          <p:cNvPr id="10" name="Formula 2" descr="Formula: Average margin rat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3809" y="3344291"/>
            <a:ext cx="2681478" cy="1351026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5132070"/>
            <a:ext cx="11094415" cy="1223010"/>
          </a:xfrm>
          <a:prstGeom prst="roundRect">
            <a:avLst>
              <a:gd name="adj" fmla="val 7477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524179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122" y="5578412"/>
            <a:ext cx="96012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426464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Index identifying one transaction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D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722" y="5578412"/>
            <a:ext cx="237744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081930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Discount rate of transaction i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M_i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473" y="5578412"/>
            <a:ext cx="265176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8737397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Margin rate of transaction i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91731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833" y="5961317"/>
            <a:ext cx="148590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426464" y="589902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transactions included</a:t>
            </a:r>
            <a:endParaRPr lang="en-US" sz="1100" dirty="0"/>
          </a:p>
        </p:txBody>
      </p:sp>
      <p:sp>
        <p:nvSpPr>
          <p:cNvPr id="25" name="Symbol chip 5"/>
          <p:cNvSpPr/>
          <p:nvPr/>
        </p:nvSpPr>
        <p:spPr>
          <a:xfrm>
            <a:off x="4405274" y="591731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5" descr="Symbol: \bar{D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83582" y="5961317"/>
            <a:ext cx="192024" cy="221742"/>
          </a:xfrm>
          <a:prstGeom prst="rect">
            <a:avLst/>
          </a:prstGeom>
        </p:spPr>
      </p:pic>
      <p:sp>
        <p:nvSpPr>
          <p:cNvPr id="27" name="Meaning 5"/>
          <p:cNvSpPr txBox="1"/>
          <p:nvPr/>
        </p:nvSpPr>
        <p:spPr>
          <a:xfrm>
            <a:off x="5081930" y="589902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Arithmetic average of the discount rates</a:t>
            </a:r>
            <a:endParaRPr lang="en-US" sz="1100" dirty="0"/>
          </a:p>
        </p:txBody>
      </p:sp>
      <p:sp>
        <p:nvSpPr>
          <p:cNvPr id="28" name="Symbol chip 6"/>
          <p:cNvSpPr/>
          <p:nvPr/>
        </p:nvSpPr>
        <p:spPr>
          <a:xfrm>
            <a:off x="8060741" y="591731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6" descr="Symbol: \bar{M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5046" y="5961317"/>
            <a:ext cx="240030" cy="221742"/>
          </a:xfrm>
          <a:prstGeom prst="rect">
            <a:avLst/>
          </a:prstGeom>
        </p:spPr>
      </p:pic>
      <p:sp>
        <p:nvSpPr>
          <p:cNvPr id="30" name="Meaning 6"/>
          <p:cNvSpPr txBox="1"/>
          <p:nvPr/>
        </p:nvSpPr>
        <p:spPr>
          <a:xfrm>
            <a:off x="8737397" y="589902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Arithmetic average of the margin rates</a:t>
            </a:r>
            <a:endParaRPr lang="en-US" sz="11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5.8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Correlation between discount and margin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291780"/>
            <a:ext cx="11094415" cy="2134362"/>
          </a:xfrm>
          <a:prstGeom prst="roundRect">
            <a:avLst>
              <a:gd name="adj" fmla="val 342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291780"/>
            <a:ext cx="1920240" cy="2134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Pearson correlation</a:t>
            </a:r>
            <a:endParaRPr lang="en-US" sz="1200" dirty="0"/>
          </a:p>
        </p:txBody>
      </p:sp>
      <p:pic>
        <p:nvPicPr>
          <p:cNvPr id="7" name="Formula 1" descr="Formula: Pearson correl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676" y="1407986"/>
            <a:ext cx="4809744" cy="1901952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3490151"/>
            <a:ext cx="11094415" cy="1110234"/>
          </a:xfrm>
          <a:prstGeom prst="roundRect">
            <a:avLst>
              <a:gd name="adj" fmla="val 6589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3490151"/>
            <a:ext cx="1920240" cy="1110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t statistic</a:t>
            </a:r>
            <a:endParaRPr lang="en-US" sz="1200" dirty="0"/>
          </a:p>
        </p:txBody>
      </p:sp>
      <p:pic>
        <p:nvPicPr>
          <p:cNvPr id="10" name="Formula 2" descr="Formula: t statistic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246" y="3596069"/>
            <a:ext cx="4832604" cy="898398"/>
          </a:xfrm>
          <a:prstGeom prst="rect">
            <a:avLst/>
          </a:prstGeom>
        </p:spPr>
      </p:pic>
      <p:sp>
        <p:nvSpPr>
          <p:cNvPr id="11" name="Parameter panel"/>
          <p:cNvSpPr/>
          <p:nvPr/>
        </p:nvSpPr>
        <p:spPr>
          <a:xfrm>
            <a:off x="548640" y="4749165"/>
            <a:ext cx="11094415" cy="1605915"/>
          </a:xfrm>
          <a:prstGeom prst="roundRect">
            <a:avLst>
              <a:gd name="adj" fmla="val 5694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Panel title"/>
          <p:cNvSpPr txBox="1"/>
          <p:nvPr/>
        </p:nvSpPr>
        <p:spPr>
          <a:xfrm>
            <a:off x="749808" y="4858893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3" name="Symbol chip 1"/>
          <p:cNvSpPr/>
          <p:nvPr/>
        </p:nvSpPr>
        <p:spPr>
          <a:xfrm>
            <a:off x="749808" y="515150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Symbol 1" descr="Symbol: D_i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195507"/>
            <a:ext cx="237744" cy="221742"/>
          </a:xfrm>
          <a:prstGeom prst="rect">
            <a:avLst/>
          </a:prstGeom>
        </p:spPr>
      </p:pic>
      <p:sp>
        <p:nvSpPr>
          <p:cNvPr id="15" name="Meaning 1"/>
          <p:cNvSpPr txBox="1"/>
          <p:nvPr/>
        </p:nvSpPr>
        <p:spPr>
          <a:xfrm>
            <a:off x="1426464" y="513321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Discount rate of transaction i</a:t>
            </a:r>
            <a:endParaRPr lang="en-US" sz="1100" dirty="0"/>
          </a:p>
        </p:txBody>
      </p:sp>
      <p:sp>
        <p:nvSpPr>
          <p:cNvPr id="16" name="Symbol chip 2"/>
          <p:cNvSpPr/>
          <p:nvPr/>
        </p:nvSpPr>
        <p:spPr>
          <a:xfrm>
            <a:off x="4405274" y="515150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2" descr="Symbol: M_i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7006" y="5195507"/>
            <a:ext cx="265176" cy="221742"/>
          </a:xfrm>
          <a:prstGeom prst="rect">
            <a:avLst/>
          </a:prstGeom>
        </p:spPr>
      </p:pic>
      <p:sp>
        <p:nvSpPr>
          <p:cNvPr id="18" name="Meaning 2"/>
          <p:cNvSpPr txBox="1"/>
          <p:nvPr/>
        </p:nvSpPr>
        <p:spPr>
          <a:xfrm>
            <a:off x="5081930" y="513321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Margin rate of transaction i</a:t>
            </a:r>
            <a:endParaRPr lang="en-US" sz="1100" dirty="0"/>
          </a:p>
        </p:txBody>
      </p:sp>
      <p:sp>
        <p:nvSpPr>
          <p:cNvPr id="19" name="Symbol chip 3"/>
          <p:cNvSpPr/>
          <p:nvPr/>
        </p:nvSpPr>
        <p:spPr>
          <a:xfrm>
            <a:off x="8060741" y="515150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3" descr="Symbol: 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0766" y="5195507"/>
            <a:ext cx="148590" cy="221742"/>
          </a:xfrm>
          <a:prstGeom prst="rect">
            <a:avLst/>
          </a:prstGeom>
        </p:spPr>
      </p:pic>
      <p:sp>
        <p:nvSpPr>
          <p:cNvPr id="21" name="Meaning 3"/>
          <p:cNvSpPr txBox="1"/>
          <p:nvPr/>
        </p:nvSpPr>
        <p:spPr>
          <a:xfrm>
            <a:off x="8737397" y="513321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paired transactions</a:t>
            </a:r>
            <a:endParaRPr lang="en-US" sz="1100" dirty="0"/>
          </a:p>
        </p:txBody>
      </p:sp>
      <p:sp>
        <p:nvSpPr>
          <p:cNvPr id="22" name="Symbol chip 4"/>
          <p:cNvSpPr/>
          <p:nvPr/>
        </p:nvSpPr>
        <p:spPr>
          <a:xfrm>
            <a:off x="749808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4" descr="Symbol: \bar{D}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8116" y="5578412"/>
            <a:ext cx="192024" cy="221742"/>
          </a:xfrm>
          <a:prstGeom prst="rect">
            <a:avLst/>
          </a:prstGeom>
        </p:spPr>
      </p:pic>
      <p:sp>
        <p:nvSpPr>
          <p:cNvPr id="24" name="Meaning 4"/>
          <p:cNvSpPr txBox="1"/>
          <p:nvPr/>
        </p:nvSpPr>
        <p:spPr>
          <a:xfrm>
            <a:off x="1426464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average discount rate</a:t>
            </a:r>
            <a:endParaRPr lang="en-US" sz="1100" dirty="0"/>
          </a:p>
        </p:txBody>
      </p:sp>
      <p:sp>
        <p:nvSpPr>
          <p:cNvPr id="25" name="Symbol chip 5"/>
          <p:cNvSpPr/>
          <p:nvPr/>
        </p:nvSpPr>
        <p:spPr>
          <a:xfrm>
            <a:off x="4405274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5" descr="Symbol: \bar{M}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9579" y="5578412"/>
            <a:ext cx="240030" cy="221742"/>
          </a:xfrm>
          <a:prstGeom prst="rect">
            <a:avLst/>
          </a:prstGeom>
        </p:spPr>
      </p:pic>
      <p:sp>
        <p:nvSpPr>
          <p:cNvPr id="27" name="Meaning 5"/>
          <p:cNvSpPr txBox="1"/>
          <p:nvPr/>
        </p:nvSpPr>
        <p:spPr>
          <a:xfrm>
            <a:off x="5081930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Sample average margin rate</a:t>
            </a:r>
            <a:endParaRPr lang="en-US" sz="1100" dirty="0"/>
          </a:p>
        </p:txBody>
      </p:sp>
      <p:sp>
        <p:nvSpPr>
          <p:cNvPr id="28" name="Symbol chip 6"/>
          <p:cNvSpPr/>
          <p:nvPr/>
        </p:nvSpPr>
        <p:spPr>
          <a:xfrm>
            <a:off x="8060741" y="5534406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6" descr="Symbol: 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3339" y="5578412"/>
            <a:ext cx="123444" cy="221742"/>
          </a:xfrm>
          <a:prstGeom prst="rect">
            <a:avLst/>
          </a:prstGeom>
        </p:spPr>
      </p:pic>
      <p:sp>
        <p:nvSpPr>
          <p:cNvPr id="30" name="Meaning 6"/>
          <p:cNvSpPr txBox="1"/>
          <p:nvPr/>
        </p:nvSpPr>
        <p:spPr>
          <a:xfrm>
            <a:off x="8737397" y="5516118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Pearson correlation, from −1 to 1</a:t>
            </a:r>
            <a:endParaRPr lang="en-US" sz="1100" dirty="0"/>
          </a:p>
        </p:txBody>
      </p:sp>
      <p:sp>
        <p:nvSpPr>
          <p:cNvPr id="31" name="Symbol chip 7"/>
          <p:cNvSpPr/>
          <p:nvPr/>
        </p:nvSpPr>
        <p:spPr>
          <a:xfrm>
            <a:off x="749808" y="591731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7" descr="Symbol: 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2693" y="5961317"/>
            <a:ext cx="102870" cy="221742"/>
          </a:xfrm>
          <a:prstGeom prst="rect">
            <a:avLst/>
          </a:prstGeom>
        </p:spPr>
      </p:pic>
      <p:sp>
        <p:nvSpPr>
          <p:cNvPr id="33" name="Meaning 7"/>
          <p:cNvSpPr txBox="1"/>
          <p:nvPr/>
        </p:nvSpPr>
        <p:spPr>
          <a:xfrm>
            <a:off x="1426464" y="589902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Tests whether r differs from zero</a:t>
            </a:r>
            <a:endParaRPr lang="en-US" sz="1100" dirty="0"/>
          </a:p>
        </p:txBody>
      </p:sp>
      <p:sp>
        <p:nvSpPr>
          <p:cNvPr id="34" name="Symbol chip 8"/>
          <p:cNvSpPr/>
          <p:nvPr/>
        </p:nvSpPr>
        <p:spPr>
          <a:xfrm>
            <a:off x="4405274" y="5917311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8" descr="Symbol: df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57293" y="5961317"/>
            <a:ext cx="244602" cy="221742"/>
          </a:xfrm>
          <a:prstGeom prst="rect">
            <a:avLst/>
          </a:prstGeom>
        </p:spPr>
      </p:pic>
      <p:sp>
        <p:nvSpPr>
          <p:cNvPr id="36" name="Meaning 8"/>
          <p:cNvSpPr txBox="1"/>
          <p:nvPr/>
        </p:nvSpPr>
        <p:spPr>
          <a:xfrm>
            <a:off x="5081930" y="5899023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Degrees of freedom of the t statistic</a:t>
            </a:r>
            <a:endParaRPr lang="en-US" sz="11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5.9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Demand volatility</a:t>
            </a:r>
            <a:endParaRPr lang="en-US" sz="3200" dirty="0"/>
          </a:p>
        </p:txBody>
      </p:sp>
      <p:sp>
        <p:nvSpPr>
          <p:cNvPr id="5" name="Parameter card 1"/>
          <p:cNvSpPr/>
          <p:nvPr/>
        </p:nvSpPr>
        <p:spPr>
          <a:xfrm>
            <a:off x="548640" y="1325880"/>
            <a:ext cx="327144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Parameter role 1"/>
          <p:cNvSpPr txBox="1"/>
          <p:nvPr/>
        </p:nvSpPr>
        <p:spPr>
          <a:xfrm>
            <a:off x="822960" y="1508760"/>
            <a:ext cx="272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NUMERATOR</a:t>
            </a:r>
            <a:endParaRPr lang="en-US" sz="1200" dirty="0"/>
          </a:p>
        </p:txBody>
      </p:sp>
      <p:pic>
        <p:nvPicPr>
          <p:cNvPr id="7" name="Parameter symbol 1" descr="Symbo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613" y="1778508"/>
            <a:ext cx="587502" cy="969264"/>
          </a:xfrm>
          <a:prstGeom prst="rect">
            <a:avLst/>
          </a:prstGeom>
        </p:spPr>
      </p:pic>
      <p:sp>
        <p:nvSpPr>
          <p:cNvPr id="8" name="Parameter meaning 1"/>
          <p:cNvSpPr txBox="1"/>
          <p:nvPr/>
        </p:nvSpPr>
        <p:spPr>
          <a:xfrm>
            <a:off x="822960" y="2834640"/>
            <a:ext cx="272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Standard deviation of the category's monthly demand</a:t>
            </a:r>
            <a:endParaRPr lang="en-US" sz="1500" dirty="0"/>
          </a:p>
        </p:txBody>
      </p:sp>
      <p:sp>
        <p:nvSpPr>
          <p:cNvPr id="9" name="Parameter card 2"/>
          <p:cNvSpPr/>
          <p:nvPr/>
        </p:nvSpPr>
        <p:spPr>
          <a:xfrm>
            <a:off x="4460169" y="1325880"/>
            <a:ext cx="3271449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0" name="Parameter role 2"/>
          <p:cNvSpPr txBox="1"/>
          <p:nvPr/>
        </p:nvSpPr>
        <p:spPr>
          <a:xfrm>
            <a:off x="4734489" y="1508760"/>
            <a:ext cx="272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DENOMINATOR</a:t>
            </a:r>
            <a:endParaRPr lang="en-US" sz="1200" dirty="0"/>
          </a:p>
        </p:txBody>
      </p:sp>
      <p:pic>
        <p:nvPicPr>
          <p:cNvPr id="11" name="Parameter symbol 2" descr="Symbo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8713" y="1778508"/>
            <a:ext cx="594360" cy="969264"/>
          </a:xfrm>
          <a:prstGeom prst="rect">
            <a:avLst/>
          </a:prstGeom>
        </p:spPr>
      </p:pic>
      <p:sp>
        <p:nvSpPr>
          <p:cNvPr id="12" name="Parameter meaning 2"/>
          <p:cNvSpPr txBox="1"/>
          <p:nvPr/>
        </p:nvSpPr>
        <p:spPr>
          <a:xfrm>
            <a:off x="4734489" y="2834640"/>
            <a:ext cx="272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tx2"/>
                </a:solidFill>
              </a:rPr>
              <a:t>Mean monthly demand of the same category</a:t>
            </a:r>
            <a:endParaRPr lang="en-US" sz="1500" dirty="0"/>
          </a:p>
        </p:txBody>
      </p:sp>
      <p:sp>
        <p:nvSpPr>
          <p:cNvPr id="13" name="Parameter card 3"/>
          <p:cNvSpPr/>
          <p:nvPr/>
        </p:nvSpPr>
        <p:spPr>
          <a:xfrm>
            <a:off x="8371698" y="1325880"/>
            <a:ext cx="3271449" cy="2514600"/>
          </a:xfrm>
          <a:prstGeom prst="roundRect">
            <a:avLst>
              <a:gd name="adj" fmla="val 4364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14" name="Parameter role 3"/>
          <p:cNvSpPr txBox="1"/>
          <p:nvPr/>
        </p:nvSpPr>
        <p:spPr>
          <a:xfrm>
            <a:off x="8646018" y="1508760"/>
            <a:ext cx="27228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RESULT</a:t>
            </a:r>
            <a:endParaRPr lang="en-US" sz="1200" dirty="0"/>
          </a:p>
        </p:txBody>
      </p:sp>
      <p:pic>
        <p:nvPicPr>
          <p:cNvPr id="15" name="Parameter symbol 3" descr="Symbo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487" y="1850517"/>
            <a:ext cx="1245870" cy="825246"/>
          </a:xfrm>
          <a:prstGeom prst="rect">
            <a:avLst/>
          </a:prstGeom>
        </p:spPr>
      </p:pic>
      <p:sp>
        <p:nvSpPr>
          <p:cNvPr id="16" name="Parameter meaning 3"/>
          <p:cNvSpPr txBox="1"/>
          <p:nvPr/>
        </p:nvSpPr>
        <p:spPr>
          <a:xfrm>
            <a:off x="8646018" y="2834640"/>
            <a:ext cx="272280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1"/>
                </a:solidFill>
              </a:rPr>
              <a:t>Coefficient of variation: no unit, or in % after ×100</a:t>
            </a:r>
            <a:endParaRPr lang="en-US" sz="1500" dirty="0"/>
          </a:p>
        </p:txBody>
      </p:sp>
      <p:sp>
        <p:nvSpPr>
          <p:cNvPr id="17" name="Operator circle 1"/>
          <p:cNvSpPr/>
          <p:nvPr/>
        </p:nvSpPr>
        <p:spPr>
          <a:xfrm>
            <a:off x="3902385" y="234543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Operator 1"/>
          <p:cNvSpPr txBox="1"/>
          <p:nvPr/>
        </p:nvSpPr>
        <p:spPr>
          <a:xfrm>
            <a:off x="3902385" y="23454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÷</a:t>
            </a:r>
            <a:endParaRPr lang="en-US" sz="2200" dirty="0"/>
          </a:p>
        </p:txBody>
      </p:sp>
      <p:sp>
        <p:nvSpPr>
          <p:cNvPr id="19" name="Operator circle 2"/>
          <p:cNvSpPr/>
          <p:nvPr/>
        </p:nvSpPr>
        <p:spPr>
          <a:xfrm>
            <a:off x="7813914" y="234543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Operator 2"/>
          <p:cNvSpPr txBox="1"/>
          <p:nvPr/>
        </p:nvSpPr>
        <p:spPr>
          <a:xfrm>
            <a:off x="7813914" y="23454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=</a:t>
            </a:r>
            <a:endParaRPr lang="en-US" sz="2200" dirty="0"/>
          </a:p>
        </p:txBody>
      </p:sp>
      <p:sp>
        <p:nvSpPr>
          <p:cNvPr id="21" name="Formula card 1"/>
          <p:cNvSpPr/>
          <p:nvPr/>
        </p:nvSpPr>
        <p:spPr>
          <a:xfrm>
            <a:off x="548640" y="4114800"/>
            <a:ext cx="545576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2" name="Formula label 1"/>
          <p:cNvSpPr txBox="1"/>
          <p:nvPr/>
        </p:nvSpPr>
        <p:spPr>
          <a:xfrm>
            <a:off x="822960" y="42976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COEFFICIENT OF VARIATION</a:t>
            </a:r>
            <a:endParaRPr lang="en-US" sz="1200" dirty="0"/>
          </a:p>
        </p:txBody>
      </p:sp>
      <p:pic>
        <p:nvPicPr>
          <p:cNvPr id="23" name="Formula 1" descr="Formula: COEFFICIENT OF VARIATI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565" y="5133213"/>
            <a:ext cx="1629918" cy="660654"/>
          </a:xfrm>
          <a:prstGeom prst="rect">
            <a:avLst/>
          </a:prstGeom>
        </p:spPr>
      </p:pic>
      <p:sp>
        <p:nvSpPr>
          <p:cNvPr id="24" name="Formula card 2"/>
          <p:cNvSpPr/>
          <p:nvPr/>
        </p:nvSpPr>
        <p:spPr>
          <a:xfrm>
            <a:off x="6187288" y="4114800"/>
            <a:ext cx="5455768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5" name="Formula label 2"/>
          <p:cNvSpPr txBox="1"/>
          <p:nvPr/>
        </p:nvSpPr>
        <p:spPr>
          <a:xfrm>
            <a:off x="6461608" y="42976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IN PERCENT</a:t>
            </a:r>
            <a:endParaRPr lang="en-US" sz="1200" dirty="0"/>
          </a:p>
        </p:txBody>
      </p:sp>
      <p:pic>
        <p:nvPicPr>
          <p:cNvPr id="26" name="Formula 2" descr="Formula: IN PERCEN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37222" y="5146929"/>
            <a:ext cx="3755898" cy="633222"/>
          </a:xfrm>
          <a:prstGeom prst="rect">
            <a:avLst/>
          </a:prstGeom>
        </p:spPr>
      </p:pic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5.10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Entropy weights of the risk indicators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294105"/>
            <a:ext cx="5478628" cy="1417777"/>
          </a:xfrm>
          <a:prstGeom prst="roundRect">
            <a:avLst>
              <a:gd name="adj" fmla="val 516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31520" y="1348969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Min-max normalisation</a:t>
            </a:r>
            <a:endParaRPr lang="en-US" sz="1200" dirty="0"/>
          </a:p>
        </p:txBody>
      </p:sp>
      <p:pic>
        <p:nvPicPr>
          <p:cNvPr id="7" name="Formula 1" descr="Formula: Min-max normalis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345" y="1799539"/>
            <a:ext cx="2887218" cy="717804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6164428" y="1294105"/>
            <a:ext cx="5478628" cy="1417777"/>
          </a:xfrm>
          <a:prstGeom prst="roundRect">
            <a:avLst>
              <a:gd name="adj" fmla="val 5160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6347308" y="1348969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Share of each store</a:t>
            </a:r>
            <a:endParaRPr lang="en-US" sz="1200" dirty="0"/>
          </a:p>
        </p:txBody>
      </p:sp>
      <p:pic>
        <p:nvPicPr>
          <p:cNvPr id="10" name="Formula 2" descr="Formula: Share of each sto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8792" y="1681810"/>
            <a:ext cx="1469898" cy="953262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2803322"/>
            <a:ext cx="5478628" cy="1738732"/>
          </a:xfrm>
          <a:prstGeom prst="roundRect">
            <a:avLst>
              <a:gd name="adj" fmla="val 42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31520" y="2858186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Entropy of indicator j</a:t>
            </a:r>
            <a:endParaRPr lang="en-US" sz="1200" dirty="0"/>
          </a:p>
        </p:txBody>
      </p:sp>
      <p:pic>
        <p:nvPicPr>
          <p:cNvPr id="13" name="Formula 3" descr="Formula: Entropy of indicator j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2029" y="3364078"/>
            <a:ext cx="3371850" cy="928116"/>
          </a:xfrm>
          <a:prstGeom prst="rect">
            <a:avLst/>
          </a:prstGeom>
        </p:spPr>
      </p:pic>
      <p:sp>
        <p:nvSpPr>
          <p:cNvPr id="14" name="Formula card 4"/>
          <p:cNvSpPr/>
          <p:nvPr/>
        </p:nvSpPr>
        <p:spPr>
          <a:xfrm>
            <a:off x="6164428" y="2803322"/>
            <a:ext cx="5478628" cy="1738732"/>
          </a:xfrm>
          <a:prstGeom prst="roundRect">
            <a:avLst>
              <a:gd name="adj" fmla="val 420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Formula label 4"/>
          <p:cNvSpPr txBox="1"/>
          <p:nvPr/>
        </p:nvSpPr>
        <p:spPr>
          <a:xfrm>
            <a:off x="6347308" y="2858186"/>
            <a:ext cx="51128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Weight of indicator j</a:t>
            </a:r>
            <a:endParaRPr lang="en-US" sz="1200" dirty="0"/>
          </a:p>
        </p:txBody>
      </p:sp>
      <p:pic>
        <p:nvPicPr>
          <p:cNvPr id="16" name="Formula 4" descr="Formula: Weight of indicator j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2056" y="3193771"/>
            <a:ext cx="4103370" cy="1268730"/>
          </a:xfrm>
          <a:prstGeom prst="rect">
            <a:avLst/>
          </a:prstGeom>
        </p:spPr>
      </p:pic>
      <p:sp>
        <p:nvSpPr>
          <p:cNvPr id="17" name="Parameter panel"/>
          <p:cNvSpPr/>
          <p:nvPr/>
        </p:nvSpPr>
        <p:spPr>
          <a:xfrm>
            <a:off x="548640" y="4693158"/>
            <a:ext cx="11094415" cy="1661922"/>
          </a:xfrm>
          <a:prstGeom prst="roundRect">
            <a:avLst>
              <a:gd name="adj" fmla="val 5502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Panel title"/>
          <p:cNvSpPr txBox="1"/>
          <p:nvPr/>
        </p:nvSpPr>
        <p:spPr>
          <a:xfrm>
            <a:off x="749808" y="480288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9" name="Symbol chip 1"/>
          <p:cNvSpPr/>
          <p:nvPr/>
        </p:nvSpPr>
        <p:spPr>
          <a:xfrm>
            <a:off x="749808" y="5095494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1" descr="Symbol: 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5139500"/>
            <a:ext cx="118872" cy="221742"/>
          </a:xfrm>
          <a:prstGeom prst="rect">
            <a:avLst/>
          </a:prstGeom>
        </p:spPr>
      </p:pic>
      <p:sp>
        <p:nvSpPr>
          <p:cNvPr id="21" name="Meaning 1"/>
          <p:cNvSpPr txBox="1"/>
          <p:nvPr/>
        </p:nvSpPr>
        <p:spPr>
          <a:xfrm>
            <a:off x="1426464" y="5077206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Index identifying a store</a:t>
            </a:r>
            <a:endParaRPr lang="en-US" sz="1100" dirty="0"/>
          </a:p>
        </p:txBody>
      </p:sp>
      <p:sp>
        <p:nvSpPr>
          <p:cNvPr id="22" name="Symbol chip 2"/>
          <p:cNvSpPr/>
          <p:nvPr/>
        </p:nvSpPr>
        <p:spPr>
          <a:xfrm>
            <a:off x="4405274" y="5095494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2" descr="Symbol: j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0158" y="5139500"/>
            <a:ext cx="118872" cy="221742"/>
          </a:xfrm>
          <a:prstGeom prst="rect">
            <a:avLst/>
          </a:prstGeom>
        </p:spPr>
      </p:pic>
      <p:sp>
        <p:nvSpPr>
          <p:cNvPr id="24" name="Meaning 2"/>
          <p:cNvSpPr txBox="1"/>
          <p:nvPr/>
        </p:nvSpPr>
        <p:spPr>
          <a:xfrm>
            <a:off x="5081930" y="5077206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One of the five risk indicators</a:t>
            </a:r>
            <a:endParaRPr lang="en-US" sz="1100" dirty="0"/>
          </a:p>
        </p:txBody>
      </p:sp>
      <p:sp>
        <p:nvSpPr>
          <p:cNvPr id="25" name="Symbol chip 3"/>
          <p:cNvSpPr/>
          <p:nvPr/>
        </p:nvSpPr>
        <p:spPr>
          <a:xfrm>
            <a:off x="8060741" y="5095494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3" descr="Symbol: 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0766" y="5139500"/>
            <a:ext cx="148590" cy="221742"/>
          </a:xfrm>
          <a:prstGeom prst="rect">
            <a:avLst/>
          </a:prstGeom>
        </p:spPr>
      </p:pic>
      <p:sp>
        <p:nvSpPr>
          <p:cNvPr id="27" name="Meaning 3"/>
          <p:cNvSpPr txBox="1"/>
          <p:nvPr/>
        </p:nvSpPr>
        <p:spPr>
          <a:xfrm>
            <a:off x="8737397" y="5077206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Number of stores</a:t>
            </a:r>
            <a:endParaRPr lang="en-US" sz="1100" dirty="0"/>
          </a:p>
        </p:txBody>
      </p:sp>
      <p:sp>
        <p:nvSpPr>
          <p:cNvPr id="28" name="Symbol chip 4"/>
          <p:cNvSpPr/>
          <p:nvPr/>
        </p:nvSpPr>
        <p:spPr>
          <a:xfrm>
            <a:off x="749808" y="5478399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4" descr="Symbol: x_{sj}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540" y="5522405"/>
            <a:ext cx="265176" cy="221742"/>
          </a:xfrm>
          <a:prstGeom prst="rect">
            <a:avLst/>
          </a:prstGeom>
        </p:spPr>
      </p:pic>
      <p:sp>
        <p:nvSpPr>
          <p:cNvPr id="30" name="Meaning 4"/>
          <p:cNvSpPr txBox="1"/>
          <p:nvPr/>
        </p:nvSpPr>
        <p:spPr>
          <a:xfrm>
            <a:off x="1426464" y="5460111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Raw value of indicator j for store s</a:t>
            </a:r>
            <a:endParaRPr lang="en-US" sz="1100" dirty="0"/>
          </a:p>
        </p:txBody>
      </p:sp>
      <p:sp>
        <p:nvSpPr>
          <p:cNvPr id="31" name="Symbol chip 5"/>
          <p:cNvSpPr/>
          <p:nvPr/>
        </p:nvSpPr>
        <p:spPr>
          <a:xfrm>
            <a:off x="4405274" y="5478399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5" descr="Symbol: z_{sj}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57293" y="5522405"/>
            <a:ext cx="244602" cy="221742"/>
          </a:xfrm>
          <a:prstGeom prst="rect">
            <a:avLst/>
          </a:prstGeom>
        </p:spPr>
      </p:pic>
      <p:sp>
        <p:nvSpPr>
          <p:cNvPr id="33" name="Meaning 5"/>
          <p:cNvSpPr txBox="1"/>
          <p:nvPr/>
        </p:nvSpPr>
        <p:spPr>
          <a:xfrm>
            <a:off x="5081930" y="5460111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Min-max normalised value (0 to 1)</a:t>
            </a:r>
            <a:endParaRPr lang="en-US" sz="1100" dirty="0"/>
          </a:p>
        </p:txBody>
      </p:sp>
      <p:sp>
        <p:nvSpPr>
          <p:cNvPr id="34" name="Symbol chip 6"/>
          <p:cNvSpPr/>
          <p:nvPr/>
        </p:nvSpPr>
        <p:spPr>
          <a:xfrm>
            <a:off x="8060741" y="5478399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6" descr="Symbol: p_{sj}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05902" y="5522405"/>
            <a:ext cx="258318" cy="221742"/>
          </a:xfrm>
          <a:prstGeom prst="rect">
            <a:avLst/>
          </a:prstGeom>
        </p:spPr>
      </p:pic>
      <p:sp>
        <p:nvSpPr>
          <p:cNvPr id="36" name="Meaning 6"/>
          <p:cNvSpPr txBox="1"/>
          <p:nvPr/>
        </p:nvSpPr>
        <p:spPr>
          <a:xfrm>
            <a:off x="8737397" y="5460111"/>
            <a:ext cx="2704490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Share of store s in indicator j</a:t>
            </a:r>
            <a:endParaRPr lang="en-US" sz="1100" dirty="0"/>
          </a:p>
        </p:txBody>
      </p:sp>
      <p:sp>
        <p:nvSpPr>
          <p:cNvPr id="37" name="Symbol chip 7"/>
          <p:cNvSpPr/>
          <p:nvPr/>
        </p:nvSpPr>
        <p:spPr>
          <a:xfrm>
            <a:off x="749808" y="5889308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7" descr="Symbol: e_j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3831" y="5933313"/>
            <a:ext cx="180594" cy="221742"/>
          </a:xfrm>
          <a:prstGeom prst="rect">
            <a:avLst/>
          </a:prstGeom>
        </p:spPr>
      </p:pic>
      <p:sp>
        <p:nvSpPr>
          <p:cNvPr id="39" name="Meaning 7"/>
          <p:cNvSpPr txBox="1"/>
          <p:nvPr/>
        </p:nvSpPr>
        <p:spPr>
          <a:xfrm>
            <a:off x="1426464" y="5843016"/>
            <a:ext cx="27044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Entropy of indicator j (ln = natural log)</a:t>
            </a:r>
            <a:endParaRPr lang="en-US" sz="1100" dirty="0"/>
          </a:p>
        </p:txBody>
      </p:sp>
      <p:sp>
        <p:nvSpPr>
          <p:cNvPr id="40" name="Symbol chip 8"/>
          <p:cNvSpPr/>
          <p:nvPr/>
        </p:nvSpPr>
        <p:spPr>
          <a:xfrm>
            <a:off x="4405274" y="5889308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8" descr="Symbol: w_j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65294" y="5933313"/>
            <a:ext cx="228600" cy="221742"/>
          </a:xfrm>
          <a:prstGeom prst="rect">
            <a:avLst/>
          </a:prstGeom>
        </p:spPr>
      </p:pic>
      <p:sp>
        <p:nvSpPr>
          <p:cNvPr id="42" name="Meaning 8"/>
          <p:cNvSpPr txBox="1"/>
          <p:nvPr/>
        </p:nvSpPr>
        <p:spPr>
          <a:xfrm>
            <a:off x="5081930" y="5843016"/>
            <a:ext cx="27044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Data-derived weight; the five weights sum to 1</a:t>
            </a:r>
            <a:endParaRPr lang="en-US" sz="1100" dirty="0"/>
          </a:p>
        </p:txBody>
      </p:sp>
      <p:sp>
        <p:nvSpPr>
          <p:cNvPr id="43" name="Symbol chip 9"/>
          <p:cNvSpPr/>
          <p:nvPr/>
        </p:nvSpPr>
        <p:spPr>
          <a:xfrm>
            <a:off x="8060741" y="5889308"/>
            <a:ext cx="548640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4" name="Symbol 9" descr="Symbol: 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66481" y="5933313"/>
            <a:ext cx="137160" cy="221742"/>
          </a:xfrm>
          <a:prstGeom prst="rect">
            <a:avLst/>
          </a:prstGeom>
        </p:spPr>
      </p:pic>
      <p:sp>
        <p:nvSpPr>
          <p:cNvPr id="45" name="Meaning 9"/>
          <p:cNvSpPr txBox="1"/>
          <p:nvPr/>
        </p:nvSpPr>
        <p:spPr>
          <a:xfrm>
            <a:off x="8737397" y="5843016"/>
            <a:ext cx="270449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Summation index over the indicators</a:t>
            </a:r>
            <a:endParaRPr lang="en-US" sz="110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" name="Section number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5.10</a:t>
            </a:r>
            <a:endParaRPr lang="en-US" sz="20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Composite store risk score</a:t>
            </a:r>
            <a:endParaRPr lang="en-US" sz="3200" dirty="0"/>
          </a:p>
        </p:txBody>
      </p:sp>
      <p:sp>
        <p:nvSpPr>
          <p:cNvPr id="5" name="Formula card 1"/>
          <p:cNvSpPr/>
          <p:nvPr/>
        </p:nvSpPr>
        <p:spPr>
          <a:xfrm>
            <a:off x="548640" y="1317003"/>
            <a:ext cx="11094415" cy="872338"/>
          </a:xfrm>
          <a:prstGeom prst="roundRect">
            <a:avLst>
              <a:gd name="adj" fmla="val 838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6" name="Formula label 1"/>
          <p:cNvSpPr txBox="1"/>
          <p:nvPr/>
        </p:nvSpPr>
        <p:spPr>
          <a:xfrm>
            <a:off x="777240" y="1381011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Indicator score</a:t>
            </a:r>
            <a:endParaRPr lang="en-US" sz="1200" dirty="0"/>
          </a:p>
        </p:txBody>
      </p:sp>
      <p:pic>
        <p:nvPicPr>
          <p:cNvPr id="7" name="Formula 1" descr="Formula: Indicator scor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4749" y="1664475"/>
            <a:ext cx="8442198" cy="409194"/>
          </a:xfrm>
          <a:prstGeom prst="rect">
            <a:avLst/>
          </a:prstGeom>
        </p:spPr>
      </p:pic>
      <p:sp>
        <p:nvSpPr>
          <p:cNvPr id="8" name="Formula card 2"/>
          <p:cNvSpPr/>
          <p:nvPr/>
        </p:nvSpPr>
        <p:spPr>
          <a:xfrm>
            <a:off x="548640" y="2253348"/>
            <a:ext cx="11094415" cy="1277722"/>
          </a:xfrm>
          <a:prstGeom prst="roundRect">
            <a:avLst>
              <a:gd name="adj" fmla="val 5725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9" name="Formula label 2"/>
          <p:cNvSpPr txBox="1"/>
          <p:nvPr/>
        </p:nvSpPr>
        <p:spPr>
          <a:xfrm>
            <a:off x="777240" y="2253348"/>
            <a:ext cx="1920240" cy="12777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Composite risk score</a:t>
            </a:r>
            <a:endParaRPr lang="en-US" sz="1200" dirty="0"/>
          </a:p>
        </p:txBody>
      </p:sp>
      <p:pic>
        <p:nvPicPr>
          <p:cNvPr id="10" name="Formula 2" descr="Formula: Composite risk sco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951" y="2360714"/>
            <a:ext cx="2695194" cy="1062990"/>
          </a:xfrm>
          <a:prstGeom prst="rect">
            <a:avLst/>
          </a:prstGeom>
        </p:spPr>
      </p:pic>
      <p:sp>
        <p:nvSpPr>
          <p:cNvPr id="11" name="Formula card 3"/>
          <p:cNvSpPr/>
          <p:nvPr/>
        </p:nvSpPr>
        <p:spPr>
          <a:xfrm>
            <a:off x="548640" y="3595078"/>
            <a:ext cx="11094415" cy="868070"/>
          </a:xfrm>
          <a:prstGeom prst="roundRect">
            <a:avLst>
              <a:gd name="adj" fmla="val 8427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Formula label 3"/>
          <p:cNvSpPr txBox="1"/>
          <p:nvPr/>
        </p:nvSpPr>
        <p:spPr>
          <a:xfrm>
            <a:off x="777240" y="3659086"/>
            <a:ext cx="1063721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Expanded form</a:t>
            </a:r>
            <a:endParaRPr lang="en-US" sz="1200" dirty="0"/>
          </a:p>
        </p:txBody>
      </p:sp>
      <p:pic>
        <p:nvPicPr>
          <p:cNvPr id="13" name="Formula 3" descr="Formula: Expanded for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053" y="3942550"/>
            <a:ext cx="10435590" cy="404622"/>
          </a:xfrm>
          <a:prstGeom prst="rect">
            <a:avLst/>
          </a:prstGeom>
        </p:spPr>
      </p:pic>
      <p:sp>
        <p:nvSpPr>
          <p:cNvPr id="14" name="Parameter panel"/>
          <p:cNvSpPr/>
          <p:nvPr/>
        </p:nvSpPr>
        <p:spPr>
          <a:xfrm>
            <a:off x="548640" y="4637151"/>
            <a:ext cx="11094415" cy="1717929"/>
          </a:xfrm>
          <a:prstGeom prst="roundRect">
            <a:avLst>
              <a:gd name="adj" fmla="val 5323"/>
            </a:avLst>
          </a:prstGeom>
          <a:solidFill>
            <a:schemeClr val="accent5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5" name="Panel title"/>
          <p:cNvSpPr txBox="1"/>
          <p:nvPr/>
        </p:nvSpPr>
        <p:spPr>
          <a:xfrm>
            <a:off x="749808" y="4746879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tx1"/>
                </a:solidFill>
              </a:rPr>
              <a:t>PARAMETER MEANINGS</a:t>
            </a:r>
            <a:endParaRPr lang="en-US" sz="1200" dirty="0"/>
          </a:p>
        </p:txBody>
      </p:sp>
      <p:sp>
        <p:nvSpPr>
          <p:cNvPr id="16" name="Symbol chip 1"/>
          <p:cNvSpPr/>
          <p:nvPr/>
        </p:nvSpPr>
        <p:spPr>
          <a:xfrm>
            <a:off x="749808" y="5064061"/>
            <a:ext cx="706374" cy="316611"/>
          </a:xfrm>
          <a:prstGeom prst="roundRect">
            <a:avLst>
              <a:gd name="adj" fmla="val 2021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ymbol 1" descr="Symbol: PR_{sj}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540" y="5106924"/>
            <a:ext cx="422910" cy="230886"/>
          </a:xfrm>
          <a:prstGeom prst="rect">
            <a:avLst/>
          </a:prstGeom>
        </p:spPr>
      </p:pic>
      <p:sp>
        <p:nvSpPr>
          <p:cNvPr id="18" name="Meaning 1"/>
          <p:cNvSpPr txBox="1"/>
          <p:nvPr/>
        </p:nvSpPr>
        <p:spPr>
          <a:xfrm>
            <a:off x="1584198" y="5021199"/>
            <a:ext cx="254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Percentile rank of store s on indicator j</a:t>
            </a:r>
            <a:endParaRPr lang="en-US" sz="1100" dirty="0"/>
          </a:p>
        </p:txBody>
      </p:sp>
      <p:sp>
        <p:nvSpPr>
          <p:cNvPr id="19" name="Symbol chip 2"/>
          <p:cNvSpPr/>
          <p:nvPr/>
        </p:nvSpPr>
        <p:spPr>
          <a:xfrm>
            <a:off x="4405274" y="5061775"/>
            <a:ext cx="706374" cy="321183"/>
          </a:xfrm>
          <a:prstGeom prst="roundRect">
            <a:avLst>
              <a:gd name="adj" fmla="val 199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ymbol 2" descr="Symbol: S_{sj}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2444" y="5104638"/>
            <a:ext cx="272034" cy="235458"/>
          </a:xfrm>
          <a:prstGeom prst="rect">
            <a:avLst/>
          </a:prstGeom>
        </p:spPr>
      </p:pic>
      <p:sp>
        <p:nvSpPr>
          <p:cNvPr id="21" name="Meaning 2"/>
          <p:cNvSpPr txBox="1"/>
          <p:nvPr/>
        </p:nvSpPr>
        <p:spPr>
          <a:xfrm>
            <a:off x="5239664" y="5021199"/>
            <a:ext cx="254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0 to 100 risk score; reversed for margin</a:t>
            </a:r>
            <a:endParaRPr lang="en-US" sz="1100" dirty="0"/>
          </a:p>
        </p:txBody>
      </p:sp>
      <p:sp>
        <p:nvSpPr>
          <p:cNvPr id="22" name="Symbol chip 3"/>
          <p:cNvSpPr/>
          <p:nvPr/>
        </p:nvSpPr>
        <p:spPr>
          <a:xfrm>
            <a:off x="8060741" y="5067490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3" name="Symbol 3" descr="Symbol: w_j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9628" y="5111496"/>
            <a:ext cx="228600" cy="221742"/>
          </a:xfrm>
          <a:prstGeom prst="rect">
            <a:avLst/>
          </a:prstGeom>
        </p:spPr>
      </p:pic>
      <p:sp>
        <p:nvSpPr>
          <p:cNvPr id="24" name="Meaning 3"/>
          <p:cNvSpPr txBox="1"/>
          <p:nvPr/>
        </p:nvSpPr>
        <p:spPr>
          <a:xfrm>
            <a:off x="8895131" y="5021199"/>
            <a:ext cx="254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Entropy weight of indicator j</a:t>
            </a:r>
            <a:endParaRPr lang="en-US" sz="1100" dirty="0"/>
          </a:p>
        </p:txBody>
      </p:sp>
      <p:sp>
        <p:nvSpPr>
          <p:cNvPr id="25" name="Symbol chip 4"/>
          <p:cNvSpPr/>
          <p:nvPr/>
        </p:nvSpPr>
        <p:spPr>
          <a:xfrm>
            <a:off x="749808" y="5506402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Symbol 4" descr="Symbol: CRS_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6107" y="5550408"/>
            <a:ext cx="493776" cy="221742"/>
          </a:xfrm>
          <a:prstGeom prst="rect">
            <a:avLst/>
          </a:prstGeom>
        </p:spPr>
      </p:pic>
      <p:sp>
        <p:nvSpPr>
          <p:cNvPr id="27" name="Meaning 4"/>
          <p:cNvSpPr txBox="1"/>
          <p:nvPr/>
        </p:nvSpPr>
        <p:spPr>
          <a:xfrm>
            <a:off x="1584198" y="5460111"/>
            <a:ext cx="254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Composite risk score of store s (0 to 100)</a:t>
            </a:r>
            <a:endParaRPr lang="en-US" sz="1100" dirty="0"/>
          </a:p>
        </p:txBody>
      </p:sp>
      <p:sp>
        <p:nvSpPr>
          <p:cNvPr id="28" name="Symbol chip 5"/>
          <p:cNvSpPr/>
          <p:nvPr/>
        </p:nvSpPr>
        <p:spPr>
          <a:xfrm>
            <a:off x="4405274" y="5506402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9" name="Symbol 5" descr="Symbol: RV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2726" y="5550408"/>
            <a:ext cx="331470" cy="221742"/>
          </a:xfrm>
          <a:prstGeom prst="rect">
            <a:avLst/>
          </a:prstGeom>
        </p:spPr>
      </p:pic>
      <p:sp>
        <p:nvSpPr>
          <p:cNvPr id="30" name="Meaning 5"/>
          <p:cNvSpPr txBox="1"/>
          <p:nvPr/>
        </p:nvSpPr>
        <p:spPr>
          <a:xfrm>
            <a:off x="5239664" y="5460111"/>
            <a:ext cx="254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Revenue volatility</a:t>
            </a:r>
            <a:endParaRPr lang="en-US" sz="1100" dirty="0"/>
          </a:p>
        </p:txBody>
      </p:sp>
      <p:sp>
        <p:nvSpPr>
          <p:cNvPr id="31" name="Symbol chip 6"/>
          <p:cNvSpPr/>
          <p:nvPr/>
        </p:nvSpPr>
        <p:spPr>
          <a:xfrm>
            <a:off x="8060741" y="5506402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2" name="Symbol 6" descr="Symbol: MR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905" y="5550408"/>
            <a:ext cx="368046" cy="221742"/>
          </a:xfrm>
          <a:prstGeom prst="rect">
            <a:avLst/>
          </a:prstGeom>
        </p:spPr>
      </p:pic>
      <p:sp>
        <p:nvSpPr>
          <p:cNvPr id="33" name="Meaning 6"/>
          <p:cNvSpPr txBox="1"/>
          <p:nvPr/>
        </p:nvSpPr>
        <p:spPr>
          <a:xfrm>
            <a:off x="8895131" y="5460111"/>
            <a:ext cx="25467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Margin risk</a:t>
            </a:r>
            <a:endParaRPr lang="en-US" sz="1100" dirty="0"/>
          </a:p>
        </p:txBody>
      </p:sp>
      <p:sp>
        <p:nvSpPr>
          <p:cNvPr id="34" name="Symbol chip 7"/>
          <p:cNvSpPr/>
          <p:nvPr/>
        </p:nvSpPr>
        <p:spPr>
          <a:xfrm>
            <a:off x="749808" y="5917311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5" name="Symbol 7" descr="Symbol: DR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" y="5961316"/>
            <a:ext cx="340614" cy="221742"/>
          </a:xfrm>
          <a:prstGeom prst="rect">
            <a:avLst/>
          </a:prstGeom>
        </p:spPr>
      </p:pic>
      <p:sp>
        <p:nvSpPr>
          <p:cNvPr id="36" name="Meaning 7"/>
          <p:cNvSpPr txBox="1"/>
          <p:nvPr/>
        </p:nvSpPr>
        <p:spPr>
          <a:xfrm>
            <a:off x="1584198" y="5899023"/>
            <a:ext cx="254675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Discount risk</a:t>
            </a:r>
            <a:endParaRPr lang="en-US" sz="1100" dirty="0"/>
          </a:p>
        </p:txBody>
      </p:sp>
      <p:sp>
        <p:nvSpPr>
          <p:cNvPr id="37" name="Symbol chip 8"/>
          <p:cNvSpPr/>
          <p:nvPr/>
        </p:nvSpPr>
        <p:spPr>
          <a:xfrm>
            <a:off x="4405274" y="5917311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8" name="Symbol 8" descr="Symbol: C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8441" y="5961316"/>
            <a:ext cx="320040" cy="221742"/>
          </a:xfrm>
          <a:prstGeom prst="rect">
            <a:avLst/>
          </a:prstGeom>
        </p:spPr>
      </p:pic>
      <p:sp>
        <p:nvSpPr>
          <p:cNvPr id="39" name="Meaning 8"/>
          <p:cNvSpPr txBox="1"/>
          <p:nvPr/>
        </p:nvSpPr>
        <p:spPr>
          <a:xfrm>
            <a:off x="5239664" y="5899023"/>
            <a:ext cx="254675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Concentration risk</a:t>
            </a:r>
            <a:endParaRPr lang="en-US" sz="1100" dirty="0"/>
          </a:p>
        </p:txBody>
      </p:sp>
      <p:sp>
        <p:nvSpPr>
          <p:cNvPr id="40" name="Symbol chip 9"/>
          <p:cNvSpPr/>
          <p:nvPr/>
        </p:nvSpPr>
        <p:spPr>
          <a:xfrm>
            <a:off x="8060741" y="5917311"/>
            <a:ext cx="706374" cy="309753"/>
          </a:xfrm>
          <a:prstGeom prst="roundRect">
            <a:avLst>
              <a:gd name="adj" fmla="val 2066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Symbol 9" descr="Symbol: DV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41335" y="5961316"/>
            <a:ext cx="345186" cy="221742"/>
          </a:xfrm>
          <a:prstGeom prst="rect">
            <a:avLst/>
          </a:prstGeom>
        </p:spPr>
      </p:pic>
      <p:sp>
        <p:nvSpPr>
          <p:cNvPr id="42" name="Meaning 9"/>
          <p:cNvSpPr txBox="1"/>
          <p:nvPr/>
        </p:nvSpPr>
        <p:spPr>
          <a:xfrm>
            <a:off x="8895131" y="5899023"/>
            <a:ext cx="2546756" cy="3463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Demand volatility</a:t>
            </a:r>
            <a:endParaRPr lang="en-US" sz="11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badge"/>
          <p:cNvSpPr/>
          <p:nvPr/>
        </p:nvSpPr>
        <p:spPr>
          <a:xfrm>
            <a:off x="548640" y="384048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Demo badge text"/>
          <p:cNvSpPr txBox="1"/>
          <p:nvPr/>
        </p:nvSpPr>
        <p:spPr>
          <a:xfrm>
            <a:off x="548640" y="38404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chemeClr val="tx1"/>
                </a:solidFill>
              </a:rPr>
              <a:t>DEMO</a:t>
            </a:r>
            <a:endParaRPr lang="en-US" sz="1500" dirty="0"/>
          </a:p>
        </p:txBody>
      </p:sp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1600200" y="32004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Risk model walkthrough</a:t>
            </a:r>
            <a:endParaRPr lang="en-US" sz="3200" dirty="0"/>
          </a:p>
        </p:txBody>
      </p:sp>
      <p:sp>
        <p:nvSpPr>
          <p:cNvPr id="5" name="Pipeline heading"/>
          <p:cNvSpPr txBox="1"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2"/>
                </a:solidFill>
              </a:rPr>
              <a:t>THE ANALYSIS PIPELINE, FROM TRANSACTION DATA TO MANAGEMENT REPORTING</a:t>
            </a:r>
            <a:endParaRPr lang="en-US" sz="1200" dirty="0"/>
          </a:p>
        </p:txBody>
      </p:sp>
      <p:sp>
        <p:nvSpPr>
          <p:cNvPr id="6" name="Timeline"/>
          <p:cNvSpPr/>
          <p:nvPr/>
        </p:nvSpPr>
        <p:spPr>
          <a:xfrm>
            <a:off x="1298448" y="2240280"/>
            <a:ext cx="9590227" cy="0"/>
          </a:xfrm>
          <a:prstGeom prst="line">
            <a:avLst/>
          </a:prstGeom>
          <a:noFill/>
          <a:ln w="31750">
            <a:solidFill>
              <a:schemeClr val="accent6"/>
            </a:solidFill>
            <a:prstDash val="solid"/>
          </a:ln>
        </p:spPr>
      </p:sp>
      <p:sp>
        <p:nvSpPr>
          <p:cNvPr id="7" name="Step card 1"/>
          <p:cNvSpPr/>
          <p:nvPr/>
        </p:nvSpPr>
        <p:spPr>
          <a:xfrm>
            <a:off x="548640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ep circle 1"/>
          <p:cNvSpPr/>
          <p:nvPr/>
        </p:nvSpPr>
        <p:spPr>
          <a:xfrm>
            <a:off x="1014984" y="1956816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Step number 1"/>
          <p:cNvSpPr txBox="1"/>
          <p:nvPr/>
        </p:nvSpPr>
        <p:spPr>
          <a:xfrm>
            <a:off x="1014984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10" name="Step title 1"/>
          <p:cNvSpPr txBox="1"/>
          <p:nvPr/>
        </p:nvSpPr>
        <p:spPr>
          <a:xfrm>
            <a:off x="640080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Step text 1"/>
          <p:cNvSpPr txBox="1"/>
          <p:nvPr/>
        </p:nvSpPr>
        <p:spPr>
          <a:xfrm>
            <a:off x="640080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Sales.csv: 2,000,000 lines from 21 stores</a:t>
            </a:r>
            <a:endParaRPr lang="en-US" sz="1400" dirty="0"/>
          </a:p>
        </p:txBody>
      </p:sp>
      <p:sp>
        <p:nvSpPr>
          <p:cNvPr id="12" name="Step card 2"/>
          <p:cNvSpPr/>
          <p:nvPr/>
        </p:nvSpPr>
        <p:spPr>
          <a:xfrm>
            <a:off x="2147011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3" name="Step circle 2"/>
          <p:cNvSpPr/>
          <p:nvPr/>
        </p:nvSpPr>
        <p:spPr>
          <a:xfrm>
            <a:off x="2613355" y="1956816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4" name="Step number 2"/>
          <p:cNvSpPr txBox="1"/>
          <p:nvPr/>
        </p:nvSpPr>
        <p:spPr>
          <a:xfrm>
            <a:off x="2613355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Step title 2"/>
          <p:cNvSpPr txBox="1"/>
          <p:nvPr/>
        </p:nvSpPr>
        <p:spPr>
          <a:xfrm>
            <a:off x="2238451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Quality control</a:t>
            </a:r>
            <a:endParaRPr lang="en-US" sz="1500" dirty="0"/>
          </a:p>
        </p:txBody>
      </p:sp>
      <p:sp>
        <p:nvSpPr>
          <p:cNvPr id="16" name="Step text 2"/>
          <p:cNvSpPr txBox="1"/>
          <p:nvPr/>
        </p:nvSpPr>
        <p:spPr>
          <a:xfrm>
            <a:off x="2238451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Duplicates flagged, 1,500 invalid rows excluded</a:t>
            </a:r>
            <a:endParaRPr lang="en-US" sz="1400" dirty="0"/>
          </a:p>
        </p:txBody>
      </p:sp>
      <p:sp>
        <p:nvSpPr>
          <p:cNvPr id="17" name="Step card 3"/>
          <p:cNvSpPr/>
          <p:nvPr/>
        </p:nvSpPr>
        <p:spPr>
          <a:xfrm>
            <a:off x="3745382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8" name="Step circle 3"/>
          <p:cNvSpPr/>
          <p:nvPr/>
        </p:nvSpPr>
        <p:spPr>
          <a:xfrm>
            <a:off x="4211726" y="1956816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Step number 3"/>
          <p:cNvSpPr txBox="1"/>
          <p:nvPr/>
        </p:nvSpPr>
        <p:spPr>
          <a:xfrm>
            <a:off x="4211726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Step title 3"/>
          <p:cNvSpPr txBox="1"/>
          <p:nvPr/>
        </p:nvSpPr>
        <p:spPr>
          <a:xfrm>
            <a:off x="3836822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drivers</a:t>
            </a:r>
            <a:endParaRPr lang="en-US" sz="1500" dirty="0"/>
          </a:p>
        </p:txBody>
      </p:sp>
      <p:sp>
        <p:nvSpPr>
          <p:cNvPr id="21" name="Step text 3"/>
          <p:cNvSpPr txBox="1"/>
          <p:nvPr/>
        </p:nvSpPr>
        <p:spPr>
          <a:xfrm>
            <a:off x="3836822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Cost, profit, margin, discount and daily loss</a:t>
            </a:r>
            <a:endParaRPr lang="en-US" sz="1400" dirty="0"/>
          </a:p>
        </p:txBody>
      </p:sp>
      <p:sp>
        <p:nvSpPr>
          <p:cNvPr id="22" name="Step card 4"/>
          <p:cNvSpPr/>
          <p:nvPr/>
        </p:nvSpPr>
        <p:spPr>
          <a:xfrm>
            <a:off x="5343754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3" name="Step circle 4"/>
          <p:cNvSpPr/>
          <p:nvPr/>
        </p:nvSpPr>
        <p:spPr>
          <a:xfrm>
            <a:off x="5810098" y="1956816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4" name="Step number 4"/>
          <p:cNvSpPr txBox="1"/>
          <p:nvPr/>
        </p:nvSpPr>
        <p:spPr>
          <a:xfrm>
            <a:off x="5810098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5" name="Step title 4"/>
          <p:cNvSpPr txBox="1"/>
          <p:nvPr/>
        </p:nvSpPr>
        <p:spPr>
          <a:xfrm>
            <a:off x="5435194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measurement</a:t>
            </a:r>
            <a:endParaRPr lang="en-US" sz="1500" dirty="0"/>
          </a:p>
        </p:txBody>
      </p:sp>
      <p:sp>
        <p:nvSpPr>
          <p:cNvPr id="26" name="Step text 4"/>
          <p:cNvSpPr txBox="1"/>
          <p:nvPr/>
        </p:nvSpPr>
        <p:spPr>
          <a:xfrm>
            <a:off x="5435194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Historical, Parametric and Monte Carlo VaR and ES</a:t>
            </a:r>
            <a:endParaRPr lang="en-US" sz="1400" dirty="0"/>
          </a:p>
        </p:txBody>
      </p:sp>
      <p:sp>
        <p:nvSpPr>
          <p:cNvPr id="27" name="Step card 5"/>
          <p:cNvSpPr/>
          <p:nvPr/>
        </p:nvSpPr>
        <p:spPr>
          <a:xfrm>
            <a:off x="6942125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8" name="Step circle 5"/>
          <p:cNvSpPr/>
          <p:nvPr/>
        </p:nvSpPr>
        <p:spPr>
          <a:xfrm>
            <a:off x="7408469" y="1956816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9" name="Step number 5"/>
          <p:cNvSpPr txBox="1"/>
          <p:nvPr/>
        </p:nvSpPr>
        <p:spPr>
          <a:xfrm>
            <a:off x="7408469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Step title 5"/>
          <p:cNvSpPr txBox="1"/>
          <p:nvPr/>
        </p:nvSpPr>
        <p:spPr>
          <a:xfrm>
            <a:off x="7033565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testing</a:t>
            </a:r>
            <a:endParaRPr lang="en-US" sz="1500" dirty="0"/>
          </a:p>
        </p:txBody>
      </p:sp>
      <p:sp>
        <p:nvSpPr>
          <p:cNvPr id="31" name="Step text 5"/>
          <p:cNvSpPr txBox="1"/>
          <p:nvPr/>
        </p:nvSpPr>
        <p:spPr>
          <a:xfrm>
            <a:off x="7033565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Sales declines and cost increases up to 20%</a:t>
            </a:r>
            <a:endParaRPr lang="en-US" sz="1400" dirty="0"/>
          </a:p>
        </p:txBody>
      </p:sp>
      <p:sp>
        <p:nvSpPr>
          <p:cNvPr id="32" name="Step card 6"/>
          <p:cNvSpPr/>
          <p:nvPr/>
        </p:nvSpPr>
        <p:spPr>
          <a:xfrm>
            <a:off x="8540496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33" name="Step circle 6"/>
          <p:cNvSpPr/>
          <p:nvPr/>
        </p:nvSpPr>
        <p:spPr>
          <a:xfrm>
            <a:off x="9006840" y="1956816"/>
            <a:ext cx="566928" cy="566928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4" name="Step number 6"/>
          <p:cNvSpPr txBox="1"/>
          <p:nvPr/>
        </p:nvSpPr>
        <p:spPr>
          <a:xfrm>
            <a:off x="9006840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5" name="Step title 6"/>
          <p:cNvSpPr txBox="1"/>
          <p:nvPr/>
        </p:nvSpPr>
        <p:spPr>
          <a:xfrm>
            <a:off x="8631936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aggregation</a:t>
            </a:r>
            <a:endParaRPr lang="en-US" sz="1500" dirty="0"/>
          </a:p>
        </p:txBody>
      </p:sp>
      <p:sp>
        <p:nvSpPr>
          <p:cNvPr id="36" name="Step text 6"/>
          <p:cNvSpPr txBox="1"/>
          <p:nvPr/>
        </p:nvSpPr>
        <p:spPr>
          <a:xfrm>
            <a:off x="8631936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Entropy-weighted risk score for each store</a:t>
            </a:r>
            <a:endParaRPr lang="en-US" sz="1400" dirty="0"/>
          </a:p>
        </p:txBody>
      </p:sp>
      <p:sp>
        <p:nvSpPr>
          <p:cNvPr id="37" name="Step card 7"/>
          <p:cNvSpPr/>
          <p:nvPr/>
        </p:nvSpPr>
        <p:spPr>
          <a:xfrm>
            <a:off x="10138867" y="2697480"/>
            <a:ext cx="1499616" cy="2743200"/>
          </a:xfrm>
          <a:prstGeom prst="roundRect">
            <a:avLst>
              <a:gd name="adj" fmla="val 6098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38" name="Step circle 7"/>
          <p:cNvSpPr/>
          <p:nvPr/>
        </p:nvSpPr>
        <p:spPr>
          <a:xfrm>
            <a:off x="10605211" y="1956816"/>
            <a:ext cx="566928" cy="566928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39" name="Step number 7"/>
          <p:cNvSpPr txBox="1"/>
          <p:nvPr/>
        </p:nvSpPr>
        <p:spPr>
          <a:xfrm>
            <a:off x="10605211" y="19568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40" name="Step title 7"/>
          <p:cNvSpPr txBox="1"/>
          <p:nvPr/>
        </p:nvSpPr>
        <p:spPr>
          <a:xfrm>
            <a:off x="10230307" y="28803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reporting</a:t>
            </a:r>
            <a:endParaRPr lang="en-US" sz="1500" dirty="0"/>
          </a:p>
        </p:txBody>
      </p:sp>
      <p:sp>
        <p:nvSpPr>
          <p:cNvPr id="41" name="Step text 7"/>
          <p:cNvSpPr txBox="1"/>
          <p:nvPr/>
        </p:nvSpPr>
        <p:spPr>
          <a:xfrm>
            <a:off x="10230307" y="3749040"/>
            <a:ext cx="131673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Risk register and recommendations</a:t>
            </a:r>
            <a:endParaRPr lang="en-US" sz="14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19088"/>
            <a:ext cx="75895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r circle teal"/>
          <p:cNvSpPr/>
          <p:nvPr/>
        </p:nvSpPr>
        <p:spPr>
          <a:xfrm>
            <a:off x="8503920" y="-2377440"/>
            <a:ext cx="5669280" cy="5669280"/>
          </a:xfrm>
          <a:prstGeom prst="ellipse">
            <a:avLst/>
          </a:prstGeom>
          <a:solidFill>
            <a:srgbClr val="E3EFEE"/>
          </a:solidFill>
          <a:ln w="12700">
            <a:solidFill>
              <a:srgbClr val="E3EFEE"/>
            </a:solidFill>
            <a:prstDash val="solid"/>
          </a:ln>
        </p:spPr>
      </p:sp>
      <p:sp>
        <p:nvSpPr>
          <p:cNvPr id="3" name="Decor circle peach"/>
          <p:cNvSpPr/>
          <p:nvPr/>
        </p:nvSpPr>
        <p:spPr>
          <a:xfrm>
            <a:off x="9692640" y="3566160"/>
            <a:ext cx="4937760" cy="4937760"/>
          </a:xfrm>
          <a:prstGeom prst="ellipse">
            <a:avLst/>
          </a:prstGeom>
          <a:solidFill>
            <a:srgbClr val="FCEEE5"/>
          </a:solidFill>
          <a:ln w="12700">
            <a:solidFill>
              <a:srgbClr val="FCEEE5"/>
            </a:solidFill>
            <a:prstDash val="solid"/>
          </a:ln>
        </p:spPr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2995126" y="317241"/>
            <a:ext cx="7119257" cy="4002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chemeClr val="tx1"/>
                </a:solidFill>
              </a:rPr>
              <a:t>Thank You</a:t>
            </a:r>
            <a:endParaRPr lang="en-US" sz="7200" dirty="0"/>
          </a:p>
        </p:txBody>
      </p:sp>
      <p:sp>
        <p:nvSpPr>
          <p:cNvPr id="7" name="Closing line"/>
          <p:cNvSpPr txBox="1"/>
          <p:nvPr/>
        </p:nvSpPr>
        <p:spPr>
          <a:xfrm>
            <a:off x="2914883" y="3657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B6B80"/>
                </a:solidFill>
              </a:rPr>
              <a:t>Questions and discussion are welcome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 Formulas">
  <a:themeElements>
    <a:clrScheme name="Key Formulas">
      <a:dk1>
        <a:srgbClr val="0F2742"/>
      </a:dk1>
      <a:lt1>
        <a:srgbClr val="FFFFFF"/>
      </a:lt1>
      <a:dk2>
        <a:srgbClr val="334155"/>
      </a:dk2>
      <a:lt2>
        <a:srgbClr val="F5F8FC"/>
      </a:lt2>
      <a:accent1>
        <a:srgbClr val="C99A2E"/>
      </a:accent1>
      <a:accent2>
        <a:srgbClr val="1F7A8C"/>
      </a:accent2>
      <a:accent3>
        <a:srgbClr val="DCE6F2"/>
      </a:accent3>
      <a:accent4>
        <a:srgbClr val="5B6B80"/>
      </a:accent4>
      <a:accent5>
        <a:srgbClr val="EEF3F9"/>
      </a:accent5>
      <a:accent6>
        <a:srgbClr val="D5DFEC"/>
      </a:accent6>
      <a:hlink>
        <a:srgbClr val="1F7A8C"/>
      </a:hlink>
      <a:folHlink>
        <a:srgbClr val="5B6B80"/>
      </a:folHlink>
    </a:clrScheme>
    <a:fontScheme name="Key Formula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1553</Words>
  <Application>Microsoft Office PowerPoint</Application>
  <PresentationFormat>Widescreen</PresentationFormat>
  <Paragraphs>404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Cambria</vt:lpstr>
      <vt:lpstr>Key Formulas</vt:lpstr>
      <vt:lpstr>Financial Risk Management of Food &amp; Beverage and Retail Sales</vt:lpstr>
      <vt:lpstr>Host organization: Newrest Cambodia</vt:lpstr>
      <vt:lpstr>Dataset: Sales.csv</vt:lpstr>
      <vt:lpstr>Objectives</vt:lpstr>
      <vt:lpstr>Key Formulas</vt:lpstr>
      <vt:lpstr>Transaction-line features</vt:lpstr>
      <vt:lpstr>Daily profit and daily loss</vt:lpstr>
      <vt:lpstr>Sample mean and standard deviation</vt:lpstr>
      <vt:lpstr>Skewness and excess kurtosis</vt:lpstr>
      <vt:lpstr>Jarque-Bera normality test</vt:lpstr>
      <vt:lpstr>Historical simulation VaR</vt:lpstr>
      <vt:lpstr>Expected Shortfall</vt:lpstr>
      <vt:lpstr>Parametric (Normal) VaR and ES</vt:lpstr>
      <vt:lpstr>Monte Carlo: ordering and VaR</vt:lpstr>
      <vt:lpstr>Monte Carlo: Expected Shortfall</vt:lpstr>
      <vt:lpstr>Stress testing</vt:lpstr>
      <vt:lpstr>Stress rule of thumb and break-even</vt:lpstr>
      <vt:lpstr>Concentration risk</vt:lpstr>
      <vt:lpstr>HHI floor and normalised HHI</vt:lpstr>
      <vt:lpstr>Average discount and margin rates</vt:lpstr>
      <vt:lpstr>Correlation between discount and margin</vt:lpstr>
      <vt:lpstr>Demand volatility</vt:lpstr>
      <vt:lpstr>Entropy weights of the risk indicators</vt:lpstr>
      <vt:lpstr>Composite store risk score</vt:lpstr>
      <vt:lpstr>Risk model walkthrough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 Formulas – Financial Risk Management</dc:title>
  <dc:subject>PptxGenJS Presentation</dc:subject>
  <dc:creator>SOR Raksmey</dc:creator>
  <cp:lastModifiedBy>raksmey</cp:lastModifiedBy>
  <cp:revision>2</cp:revision>
  <dcterms:created xsi:type="dcterms:W3CDTF">2026-10-28T10:35:29Z</dcterms:created>
  <dcterms:modified xsi:type="dcterms:W3CDTF">2026-10-28T10:42:50Z</dcterms:modified>
</cp:coreProperties>
</file>